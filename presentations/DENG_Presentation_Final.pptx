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5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68" r:id="rId5"/>
    <p:sldId id="269" r:id="rId6"/>
    <p:sldId id="271" r:id="rId7"/>
    <p:sldId id="266" r:id="rId8"/>
    <p:sldId id="264" r:id="rId9"/>
    <p:sldId id="265" r:id="rId10"/>
    <p:sldId id="272" r:id="rId11"/>
    <p:sldId id="273" r:id="rId12"/>
    <p:sldId id="274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9FB"/>
    <a:srgbClr val="F39949"/>
    <a:srgbClr val="6F56EA"/>
    <a:srgbClr val="EFF8EE"/>
    <a:srgbClr val="0A1F33"/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3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8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22T13:53:57.205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1 83,'30'0,"-4"0,-17 0,1 0,3 0,-4 0,3 0,1 0,-2 0,5 0,-3 0,-1 0,-2 0,0 0,6 0,-5 0,5 0,-6 0,2 0,1 0,-1 0,0 0,1 0,2 0,0 0,0 0,-1 0,-1 0,2 0,0 0,3 0,-1 0,1 0,1 0,0 0,-1 0,0 0,-2 0,8 0,-8 0,5 0,-5 0,0 0,1 0,1 0,1 0,2 0,-3 0,0 0,0 0,0 0,0 0,-2 0,-1 0,1 0,0 0,2 0,0 0,-2 0,2 0,0 0,0 0,10 0,-10 0,6 0,-8 0,2 0,2 0,-2 0,1 0,-1 0,-2 0,2 0,-3 0,0 0,-1 0,-1 0,0 0,0 0,2 0,0 0,0 0,1 0,-1 0,1 0,-1 0,-2 0,6 0,-6 0,6 0,-5 0,0 0,1 0,1 0,-1 0,1 0,-3 0,1 0,-1 0,-2 0,1 0,-1 0,0 0,1 0,0 0,1 0,0 0,-1 0,-2 0,-1-2,3-1,4 1,-4-1,4 3,-3 0,2 0,2 0,1 0,1-2,1 0,1-1,3 0,0 3,-1-1,-1-1,-1-1,1 1,1 0,1 2,1 0,3 0,0-3,-3 0,3 1,-4-1,8 3,-9-2,3 0,-7-1,1 1,1-1,1 0,-1 0,-2 1,-1 1,0-1,-2-1,-1 0,-3 1,-2 2,1-2,2 0,0-1,0 1,0 2,-3-1,2 1,1 0,-1 0,4 0,-4 0,3 0,-2 0,0 0,0 0,1 0,-1 0,0 0,2 0,-2 0,-1 0,2 0,-3 0,1 0,0 0,-1 0,1 0,2 0,-1 0,0 0,2 0,-2 0,-1 0,3 0,2 0,-3 0,4 0,-7 0,1 0,1 0,0 0,1 0,-1 0,0 0,1 0,-1 0,-2 0,0 0,3 0,-2 0,4 0,-4 0,1 0,0 0,-1 0,0 0,-2 0,7 0,-6 0,5 0,-7 0,2 0,1 0,3 0,0 0,-2 0,2 0,-2 0,2 0,0 0,-2 0,2 0,-1 0,1 0,2 0,0 0,0 0,1 0,-1 0,1 0,-3 0,5 0,-7 0,6 0,-8 0,1 0,0 0,0 0,1 0,0 0,-1 0,-2 0,-1 0,4 0,-4 0,3 0,2 0,0 0,2 0,-4 0,-1 0,-2 0,8 0,-7 0,6 0,-7 0,0 0,5 0,-4 0,4 0,-4 2,-1 0,5 1,-5-1,3-2,0 0,-2 0,4 0,-5 0,0 0,4 0,-4 0,3 0,1 0,-3 0,4 0,-5 0,3 0,-3 0,3 0,1 0,-2 0,2 0,-4 0,1 0,1 3,-1-2,2 3,-3-4,4 2,-2 1,3-1,-5 0,4 0,-4 0,3 0,-2 2,-1-1,6 0,-6-1,4 0,-4 1,1-1,2 0,-3 0,3 0,1 0,-3 0,4-1,-4-1,-1 0,4 0,-4 1,3 1,0 1,-2-1,4-2,-4 0,-1 0,5 4,-4-3,3 3,-1-4,-3 0,4 0,-4 0,1 0,-40-7,26 5,-31-6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22T13:54:17.505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1 7,'29'0,"-3"0,-11 0,-1 1,-1 1,0 0,7 4,8-4,-6 5,4-4,-13-1,0 0,3-2,-5 0,4 0,-4 2,2 0,-1 0,3 0,0-1,1-1,-1 0,0 0,0 0,0 0,1 0,-3 0,2 0,1 0,0 0,1 0,-1 0,0 0,-1 0,1 0,-1 0,6 0,-7 0,8 2,-9 0,2 1,0-1,-2-2,2 1,1-1,-1 0,1 2,-1 0,0 1,-3-1,1-2,0 0,2 0,1 0,2 2,0 0,1 1,1-1,2-2,-4 1,0-1,6 0,-6 0,9 0,-9 0,3 0,0 0,0 0,0 0,1 0,2 0,0 0,1 0,-2 0,-3 0,4 0,0 0,4 0,5 0,2 0,4 0,2 0,2 0,1 0,1 0,17 0,-18 0,20 0,-16 0,5 0,2 0,0 0,-3 0,-1 0,0 0,-1 0,0 0,-2 0,-4 0,-1 0,0 0,5 0,6 0,0 0,1 0,-3 0,-1 0,0 0,-1-3,16-1,-18-1,14-1,-22 1,3-1,-3 2,2 1,-2 0,-1 0,0-1,-4 2,0 2,-2 0,-2-1,-2 0,0-2,2 0,3 0,1 2,0 1,-3 0,0 0,-4 0,0-1,7 1,-10 0,8 0,-9 0,3-2,1 0,0-1,0 1,3 1,1 1,2 0,-2 0,-2 0,-4 0,1 0,2 0,1 0,4 0,1 0,0 0,3 0,1 0,0 0,0 0,-5 0,11 0,-12 0,12 0,-15 0,5 0,-1 0,-2 0,0 0,-3 0,-1 0,0 0,-1 0,-2 0,-1 0,2 0,-2 0,6 0,0 2,0 0,1 1,0 0,1-3,3 3,-1 0,11 0,-14-1,10 0,-14 1,2 0,1-1,1 1,-1 0,-2 0,0 0,0-3,0 0,-3 1,-3 1,-1 1,1-1,4-1,-4-1,3 1,-2-1,-3 0,1 0,-4 0,0 0,3 0,-6 1,4 1,-7 0,-1 0,0-1,4-1,-4 0,4 2,-4 1,-1-1,4 0,-4-2,3 0,1 0,-3 0,3 2,-3 0,-1 1,4-1,-4-1,3 1,1 1,-3-1,4-1,-5-1,0 0,5 0,-4 0,3 0,-1 0,-3 0,3 0,-2 0,1 0,2 0,0 0,1 0,-1 0,0 0,6 0,-8 0,6 0,-9 0,1 0,5 0,-3 0,3 0,-5 0,1 0,2 0,-3 0,4 0,-5 0,2 0,3 0,-3 0,2 1,-1 4,-1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22T13:54:39.905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0 89,'49'0,"8"0,-21 0,9 0,6 0,5 0,-7 0,-4 0,-24 0,-3 0,-3 0,-2 0,-2 0,2 0,0 0,0 0,1 0,-1 0,0 0,-1 0,-2 0,0 0,2 0,-3 0,3 0,1 0,-3 0,4 0,-5 0,3 0,1 0,2 2,3 1,-3 0,3-1,0-2,0 2,5 0,1 1,1-1,2-2,-2 3,1-1,-2 1,-3-1,12-2,-11 2,10 0,-13 1,2-1,0-1,0-1,0 0,0 0,4 0,-1 0,1 0,1 0,-4 0,-1 0,2 0,-1 2,2 0,3 1,-2-1,3-1,0-1,0 0,0 0,11 0,-12 0,11 0,-14 0,4 0,2 0,2 0,2 0,1 2,0 1,-3 0,-1-1,-1-1,-3 0,0 1,0 1,-2 0,2-2,1-1,-2 0,-2 0,-2 0,-3 0,-1 0,-2 0,6 0,-7 0,7 0,-9 0,3 0,-1 0,0 0,1 0,-3 0,2 0,-3 0,3 0,1 0,-1 0,1 0,2 0,3 0,0 0,3 0,0 0,1 0,3 0,0 0,0 0,7 0,-8-2,8 0,-10-1,3 1,0 1,-2 1,1 0,-2-3,0 0,-1 0,-3 1,-2 2,-2 0,1 0,0 0,3 0,-2 0,-1 0,0-2,1-1,2 0,3-1,1 0,6 0,-6-1,5 0,-6 1,3-2,0 1,1 1,1-1,1 2,-1-3,2 1,-3-1,-1 1,0 2,-3 1,2 0,1-1,2 0,1 1,-1 1,-3 1,2 0,-3-3,0 0,6 1,-11-1,6 3,-7-2,1 0,1-1,0 1,1 1,2-1,1-1,0-1,-1 2,-4-1,-2 1,2-1,1 1,1 2,2 0,-2 0,-1 0,1 0,-1 0,1 0,1 0,9 0,-8 0,5 0,-11 0,3 0,0 0,0 0,1 0,-1 0,-2 0,-1 0,0 0,-3 0,-1 0,-3 0,-3 0,2 0,2 0,0 0,0 0,-2 0,3 0,-1 0,1 0,3 0,-4 0,3 0,-3 0,1 0,0 0,0 0,-3 0,2 0,1 0,-1 0,0 0,-2 0,1 0,-1 0,1 0,3 0,-4 0,4 0,-5 0,1 0,3 0,-3 0,3 0,-1 0,-2 0,2 0,1 0,-4 0,3 0,1 0,-4 0,3 0,-3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22T21:01:41.516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0 0,'73'4,"-9"0,-13-2,-20 0,-11-1,-11-1,1 0,3 0,3 0,0 0,-4 0,0 0,0 0,2 1,0 0,1 1,1-1,-2 1,1-2,-4 1,2-1,-3 0,4 0,-2 0,0 0,2 0,-1 1,1 1,0-1,-2 0,-3 0,4 0,-6 0,6 0,-3-1,0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22T21:28:30.284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1,'50'16,"5"0,-14-2,1-2,-5-2,-11-4,1-1,-8-2,2 0,9 0,-8 0,6 0,-11-2,-4 0,2 1,-3-1,2 0,2 1,2-1,1 1,-1-1,-5 0,-1-1,0 0,-2 0,5 0,-2 0,3 0,1 0,0 0,0-1,0 0,-1 0,-4 0,-2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28T09:24:31.39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0,'33'2,"-6"-2,3 1,-6 0,12-1,-5 1,-7-1,15 2,-8-1,16 0,-8 1,-8-2,-1 1,-8-1,19 0,-11 0,12 0,-13 0,-7-1,0 0,-2 0,0 0,0 1,-2 0,-2 0,-5 0,7 0,-5 0,5 0,-10 0,2 0,0 1,0-1,5 2,-2-1,-2 0,6 0,0 0,-1 0,11 0,-11-1,8 1,-9-1,5 0,-10 0,5 0,-7 0,5 0,3 1,0 0,-1 0,3-1,-8 0,11 0,-2 0,-4 0,13 2,-12-1,9 1,-6-1,-6-1,7 1,-8 0,19 1,-9 0,12 0,-7-1,-1 1,2 0,3-1,-6 0,8-1,-3 1,0 1,6 0,-6-1,-5 0,10 0,-19-1,21 0,-13 0,15 0,-1 1,0-1,-6 1,10-1,-20 1,31 0,-28-1,34 1,-25 0,4 0,6 0,-20 0,42 1,-34-1,40 1,-13 0,-3-1,21 2,8 1,-1-1,-32-2,-1 1,3-1,7 0,11 1,-14-1,29 2,-23-2,-5 1,0-1,2 0,21 0,6 0,12 0,-37 0,19 0,-25 0,25 0,-30-1,9 0,-4 1,-8-1,23 1,-28-1,19 1,-27 0,4-1,-14 1,6 0,-3 0,17 0,-21 0,30 2,-23-1,19 0,-5-1,8 0,1 0,-11-1,2 0,-14 0,31-1,-17 1,14-1,-25 0,-1 1,-2 0,-4 0,5 0,-7 0,-4 0,10 0,-18 0,25 1,-19 0,27 0,-21 0,13 0,-4-1,2 1,6 1,-13-2,-1 1,-3-1,-7 0,19 1,-14-1,7 1,-12 0,-1 0,-8 0,13 1,-10-1,21 2,-17-3,18 2,-18-1,18 0,-18 0,21 0,-17-1,7 1,-4-1,-4 0,-2 0,-3 0,-7 0,0 0,5 0,-4 0,7 0,-7-1,8 0,-6 0,4 0,-6 1,5-1,-2 1,2 0,-2 0,-3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5-28T09:24:34.404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62,'30'-2,"6"0,-10 1,15-1,-1 1,4-1,-5 0,-2 0,-5 0,0-1,-5 1,0 1,-6-1,6 2,3-1,8 0,1 0,-7 0,16 1,-10 0,13 0,-8 0,-15 0,7 0,-19 0,13-1,0 0,1 1,4-1,5 0,-18 0,28-1,-25 1,35-1,-30 1,25-1,-32 2,30-1,-27 0,34-1,-29 1,27 0,-29-1,7 1,-14 0,1 1,14-1,-10 1,13-2,-15 1,2 0,14 1,-10-1,4 0,8 0,-19 1,34 0,-29 0,33 0,-24-1,5 0,10 1,-21 0,37 0,-23 0,15 0,-23 0,2 0,-5 0,22 0,-14 0,26 1,-40-1,31 1,-18-1,32 2,-18 0,32 2,-47-2,44 2,-46-2,51 3,-48-3,37 2,-51-4,29 1,-34-1,33 1,-30 0,18-1,-19 1,14 0,-12 0,14 0,1 1,-6-1,25 1,-31-1,40 2,-22-1,26 0,-28-1,12 1,-25-1,40 0,-35 0,43 0,-53-1,40 0,-38 1,39-1,-23 0,6-1,9 0,-28 0,27 0,-28 1,28 0,-21-1,14 0,-26 1,3-1,-1 1,-4 0,13 0,-19-1,5 0,-4-1,8 1,4 1,9-2,-4 2,-9-1,12 0,-16 1,35-2,-29 1,31-1,-38 2,29-2,-28 1,29-1,-21 0,7 0,-17 1,11 1,-14 0,25-1,-24 0,15 0,-5 1,0 0,4 0,-7 0,5-1,-7 1,5-1,-8 1,1 0,8-1,-15 0,14 1,-11-1,1 1,7 0,-9-1,8 1,-12-1,4 1,-1 1,-1-1,10 0,-13 0,13 0,-15 0,8 1,-4-1,2 1,-2-1,-6 0,-1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8T09:25:36.5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1 194 24575,'14'0'0,"-1"-1"0,2 1 0,-3-2 0,-4 1 0,0 1 0,-1 0 0,0 0 0,-1 0 0,-1 0 0,2 0 0,-3 0 0,3 0 0,0 1 0,0 0 0,2 0 0,1-1 0,0 0 0,2 1 0,-2-1 0,4 2 0,0-1 0,1 0 0,2-1 0,-2 1 0,0-1 0,-2 0 0,-2 1 0,-4-1 0,-3 1 0,-1-1 0,0 0 0,-2 1 0,1-1 0,-1 0 0,1 0 0,5 1 0,-1 0 0,10 1 0,-4-1 0,5 0 0,-8 0 0,-1 0 0,-1-1 0,2 1 0,-2 0 0,-1 0 0,-4-1 0,4 1 0,-1-1 0,5 1 0,-2-1 0,-1 0 0,2 1 0,-3-1 0,2 0 0,1 1 0,-5-1 0,5 0 0,-4 1 0,2-1 0,0 0 0,0 0 0,-1 0 0,3 0 0,-2 0 0,1 0 0,3 0 0,-2 0 0,0 0 0,-2 0 0,-1 0 0,-2 0 0,-1 0 0,0 0 0,-1 0 0,0 0 0,-1 0 0,1 0 0,-4-2 0,-5-4 0,-3-2 0,-3-1 0,0-1 0,2 3 0,0-1 0,-1 0 0,1 2 0,3 1 0,-2-2 0,7 4 0,-5-2 0,2 2 0,0-1 0,-2-1 0,1 1 0,-2-3 0,1 2 0,-4-2 0,3 1 0,0 1 0,3 2 0,1 0 0,-3 0 0,2-1 0,-4-1 0,2 0 0,0 1 0,2 1 0,-1-1 0,4 2 0,-5-3 0,1 1 0,0-1 0,0 2 0,3 0 0,-3 1 0,2 0 0,-3-1 0,4 1 0,0 1 0,-1 0 0,2 0 0,-1-1 0,0 1 0,-1-1 0,-2 0 0,1-1 0,-2 0 0,3 0 0,1 1 0,1 0 0,4 3 0,5 4 0,1 0 0,2 2 0,0 0 0,-1-2 0,1 1 0,0 1 0,-2-1 0,0-1 0,0 0 0,0 0 0,0 0 0,-1-1 0,2 2 0,-3-2 0,2 2 0,3 2 0,-2-1 0,6 5 0,-2-3 0,-1-1 0,-2-1 0,-4-3 0,0 0 0,-3-3 0,1 3 0,-1-2 0,1 1 0,0 0 0,0 1 0,1 0 0,1 0 0,-1 0 0,-1-1 0,3 2 0,-3-2 0,3 3 0,0-2 0,1 2 0,0-1 0,0 0 0,-3-2 0,-1-1 0,-1-1 0,0 1 0,-1-2 0,2 2 0,-2-1 0,1 0 0,-1-1 0,1 1 0,-1 0 0,1 0 0,0 0 0,1 0 0,0 0 0,0 1 0,1-1 0,0 1 0,-2 0 0,0-1 0,-1 0 0,0-1 0,2 2 0,2 1 0,0-1 0,4 2 0,6 3 0,0-1 0,2 1 0,-5-4 0,-7-2 0,-2-1 0,-3 0 0,-4 2 0,0 0 0,-4 2 0,0-2 0,0 1 0,-3 2 0,2-1 0,-1 0 0,2 0 0,0-1 0,0 1 0,2-1 0,-3 2 0,1-1 0,-1 2 0,1-2 0,1 1 0,1-2 0,-2 2 0,3-1 0,-1-1 0,0 3 0,1-2 0,-3 3 0,2-2 0,0 2 0,-3-1 0,2 1 0,0-1 0,1-1 0,3-1 0,-1-1 0,2-1 0,-2 2 0,2-2 0,-1 2 0,1-1 0,-1-1 0,0 0 0,0 1 0,1-1 0,-2 2 0,1-1 0,-2 2 0,0-1 0,0 1 0,-1 1 0,0-1 0,0 0 0,0 0 0,4-3 0,-2 0 0,3 0 0,-1-1 0,0 0 0,1-1 0,0 1 0,0 0 0,-1 1 0,1-1 0,-2 2 0,0-2 0,-1 2 0,0 0 0,0 0 0,-1 1 0,0-1 0,2-1 0,-2 2 0,2-2 0,0 0 0,2-1 0,-1 0 0,2 0 0,-2-1 0,1 1 0,0 0 0,0-1 0,0 2 0,2-5 0,-1 1 0,3-5 0,-2 3 0,0 1 0,-1 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8T09:25:44.5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1 146 24575,'14'-9'0,"-6"5"0,5-4 0,-7 5 0,0-1 0,4-2 0,-5 2 0,2-1 0,-4 2 0,-1 0 0,0 1 0,0 0 0,1-1 0,1 0 0,-1 0 0,0 1 0,0-2 0,-1 1 0,1-1 0,-2 1 0,2 0 0,0 0 0,-1 0 0,0 1 0,-1-1 0,0 2 0,1-3 0,0 1 0,1-1 0,0 0 0,-1 1 0,0 0 0,0-1 0,-1 1 0,1 0 0,0 0 0,-1 1 0,1 0 0,-2 2 0,1-2 0,0 1 0,-1-1 0,2-1 0,-1 2 0,1-2 0,-1 3 0,0-1 0,0 0 0,0 1 0,0 3 0,-1 1 0,0 3 0,0-2 0,0-1 0,0 0 0,0-2 0,0 3 0,0-3 0,0 2 0,0-1 0,1 2 0,-1 2 0,1-2 0,0 2 0,-1-2 0,0-1 0,0-1 0,0-1 0,0 2 0,0-1 0,0 2 0,0-1 0,0 2 0,0-1 0,0 0 0,0 1 0,0 1 0,0-1 0,1 3 0,0-2 0,0 1 0,0-1 0,-1-3 0,1 2 0,-1-3 0,1 1 0,-1-1 0,0-1 0,0 1 0,0-2 0,0 1 0,1-1 0,-1 2 0,1-1 0,-1 0 0,0 2 0,0 0 0,0-1 0,0 2 0,0-3 0,0 3 0,0-1 0,0 0 0,0 1 0,0-2 0,0 0 0,0-1 0,0 1 0,0 1 0,0 1 0,0 1 0,0 0 0,0 2 0,0-2 0,0 5 0,0-5 0,1 1 0,-1-2 0,0-2 0,0 1 0,0-3 0,1 1 0,-1 0 0,0-1 0,0 2 0,0 0 0,0 0 0,0 1 0,0 0 0,0 0 0,0 2 0,0-1 0,0-1 0,0 0 0,0-2 0,0 2 0,0-3 0,0 0 0,0 1 0,0 0 0,0 1 0,0-1 0,0-1 0,-1 0 0,1 3 0,-1-2 0,0 2 0,1-1 0,-1 0 0,1-2 0,0 0 0,2-4 0,1 0 0,5-5 0,-1-1 0,-1 2 0,-3-1 0,-3 5 0,0 1 0,0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8T09:25:48.2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604 80 24575,'-25'0'0,"-12"0"0,-7 0 0,-9-1 0,12-1 0,2 0 0,6 0 0,12 1 0,7 0 0,6 1 0,2 0 0,2-1 0,0 1 0,1 0 0,-4 0 0,2 1 0,-6 0 0,0 2 0,1 0 0,-6 3 0,6-1 0,-6 2 0,7-2 0,-8 6 0,5-4 0,-4 5 0,7-5 0,-3 4 0,3-3 0,-3 4 0,3-1 0,0 0 0,2-1 0,0 1 0,1-3 0,-3 6 0,3-2 0,-2 1 0,2 0 0,4-6 0,-4 11 0,4-2 0,-2 7 0,2-8 0,0 0 0,0 4 0,1 0 0,0 7 0,1-13 0,0 12 0,0-15 0,1 21 0,1-13 0,0 6 0,0-7 0,1-6 0,1 5 0,1-4 0,0 2 0,1 1 0,0-1 0,-2-4 0,3 5 0,-3-9 0,4 10 0,-3-5 0,2 2 0,-2-1 0,2-1 0,-1-1 0,8 9 0,-2-6 0,3 3 0,1 0 0,-3-5 0,10 6 0,-7-6 0,16 7 0,-18-11 0,15 8 0,-13-8 0,7 3 0,-3-4 0,-4-2 0,10 0 0,-7-3 0,4 1 0,-2-1 0,-7-1 0,15-1 0,-12 1 0,12-2 0,-19 1 0,16-3 0,-4 0 0,2 0 0,4-2 0,-16 3 0,4-1 0,0-1 0,-7 2 0,11-4 0,-12 4 0,9-3 0,-12 4 0,6-3 0,-4 2 0,4-3 0,-3 1 0,6-5 0,-6 4 0,9-9 0,-6 5 0,1 0 0,-1-1 0,-5 5 0,8-10 0,-7 8 0,6-9 0,-3 2 0,-2 4 0,3-8 0,-6 8 0,1-2 0,-2 3 0,4-13 0,-4 12 0,5-20 0,-5 12 0,0-1 0,1-10 0,-3 11 0,0-7 0,-1 13 0,-1-6 0,1 6 0,-1-6 0,1 7 0,-1-3 0,0 5 0,0-1 0,-1 0 0,1 2 0,-1-4 0,-1 1 0,0 3 0,0-1 0,0 3 0,-2-7 0,1 3 0,-1-5 0,0 6 0,1 1 0,1 2 0,-1-2 0,1 3 0,-3-6 0,2 7 0,-2-7 0,2 7 0,-5-7 0,4 4 0,-4-4 0,1 2 0,1 0 0,-1 3 0,-4-4 0,2 2 0,-5-4 0,3 3 0,3 3 0,-3-3 0,-4 0 0,-2-1 0,-1 0 0,6 5 0,0 1 0,3 2 0,0-1 0,1 0 0,3 1 0,0 0 0,2 2 0,-2-1 0,1 2 0,-2-2 0,1 0 0,-1 1 0,2-1 0,-2 2 0,2-1 0,-1 1 0,1 0 0,1-1 0,1 1 0,0-1 0,1 1 0,-1 0 0,1 0 0,-3 0 0,-1 0 0,-3 2 0,0 0 0,1 0 0,-3 2 0,5-2 0,-1 0 0,5-1 0,-1 0 0,-1 0 0,1 0 0,-2 2 0,2-2 0,0 1 0,0-2 0,1 0 0,0 1 0,-1 0 0,0 1 0,0-2 0,0 1 0,0 0 0,0 0 0,1 0 0,0 0 0,0 0 0,0-1 0,-1 2 0,0-2 0,1 1 0,-2 0 0,1 1 0,-2 0 0,-1 0 0,1 0 0,-2-1 0,3 1 0,-1-1 0,1 0 0,2 0 0,0-1 0,-1 1 0,0-1 0,-1 2 0,1-2 0,-2 2 0,1-1 0,-1 1 0,2-1 0,-1 0 0,2 0 0,-3 1 0,0-1 0,-1 1 0,-4 0 0,-1 1 0,-4 0 0,-5 1 0,-1-2 0,1 1 0,3-1 0,7-1 0,3 0 0,5-1 0,0 0 0,0 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8T09:25:52.2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 24575,'10'-2'0,"0"1"0,1-1 0,1 1 0,3-1 0,-3 1 0,-2 1 0,0-1 0,0 1 0,3-1 0,-3 1 0,1 0 0,-4 0 0,3 1 0,-3 0 0,3 1 0,-2 1 0,0 0 0,-1 0 0,1 2 0,-3-2 0,2 2 0,-3-3 0,1 2 0,-2 0 0,2 1 0,-3 0 0,3 3 0,-2-2 0,0 1 0,0 2 0,-1-4 0,1 5 0,-2-6 0,1 7 0,-1-4 0,0 3 0,0-4 0,0 2 0,-1-1 0,1 2 0,0-3 0,0 1 0,-1 2 0,0 1 0,0 0 0,0 0 0,0 0 0,0 1 0,-1 0 0,1-3 0,-1 3 0,1-4 0,-1 4 0,0-3 0,0-2 0,0 0 0,-1-1 0,0 0 0,0 2 0,1-4 0,-1 1 0,1-2 0,-1 0 0,1 1 0,-1-1 0,1 1 0,-1-1 0,0 2 0,0-1 0,-2 2 0,2-1 0,-2 1 0,-1 0 0,0 1 0,0 1 0,1-1 0,1-2 0,0 0 0,0 0 0,0 0 0,-1 1 0,0-1 0,1 1 0,0-2 0,0 2 0,-1-1 0,0 0 0,-4 3 0,5-4 0,-5 3 0,5-3 0,-3 2 0,1-2 0,1 0 0,1-2 0,0-1 0,2 0 0,-4 1 0,2 0 0,-3 0 0,3 0 0,-1 0 0,1-1 0,0 1 0,1 0 0,0 0 0,-2 0 0,3-1 0,-2 1 0,2 0 0,0-1 0,-1 1 0,1 0 0,-1 0 0,1 0 0,0 1 0,1 1 0,0 3 0,1-1 0,0 3 0,4 3 0,-1-3 0,1 4 0,-1-6 0,2 0 0,-1-2 0,3 1 0,-3-2 0,4 1 0,1 1 0,6-1 0,-3 0 0,8-3 0,5 1 0,-5-2 0,16 1 0,-22 0 0,14-1 0,-8 1 0,-3-1 0,0 0 0,-10 0 0,2 0 0,-1 0 0,-3-1 0,1 1 0,1-1 0,-2 0 0,7-1 0,-7 0 0,10-1 0,-9 2 0,6-2 0,-6 1 0,1 0 0,-4 0 0,0 1 0,-3 0 0,0 1 0,-4-5 0,0 1 0,-2-2 0,-1 1 0,3 3 0,0-1 0,2 3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8T09:25:55.1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1132 419 24575,'-7'-21'0,"-3"-4"0,-1-1 0,-1-1 0,4 10 0,0 1 0,0-1 0,1 4 0,-3-6 0,3 8 0,-2-4 0,0 2 0,0 1 0,3 2 0,-6-4 0,3 3 0,-4-4 0,1 2 0,-1 1 0,3 3 0,-4-2 0,-2-2 0,3 3 0,-8-6 0,11 9 0,-5-2 0,3 2 0,3 2 0,-6-1 0,5 2 0,-2 0 0,2 1 0,-2 1 0,0-1 0,-6 1 0,6 2 0,-5 0 0,-6 0 0,-2 2 0,-1-1 0,-8 2 0,11-1 0,-5 1 0,-8 2 0,17-2 0,-23 5 0,20-4 0,-2 0 0,7-1 0,-4 0 0,4 0 0,-3 1 0,2 0 0,5 0 0,-2 2 0,-3 1 0,9-2 0,-13 4 0,8-3 0,-1 0 0,2 1 0,1 1 0,-1 2 0,0 0 0,0 0 0,4-3 0,0 1 0,0 1 0,0 1 0,2-1 0,-3 5 0,3-2 0,1-1 0,-4 8 0,3-4 0,-3 8 0,2 1 0,2-6 0,-1 3 0,1 4 0,-1 2 0,1 0 0,1 1 0,4-15 0,-3 17 0,2-11 0,0 8 0,0-8 0,2 4 0,0-11 0,1 10 0,-1-8 0,1 3 0,1 7 0,-1-10 0,2 14 0,-2-17 0,4 12 0,-1-8 0,1 2 0,2 1 0,-1-4 0,0-2 0,3 3 0,-4-8 0,5 5 0,0 0 0,-1-1 0,5 5 0,-3-5 0,2 4 0,-3-5 0,2 2 0,-4-5 0,4 5 0,-5-5 0,5 7 0,-3-5 0,4 6 0,-1-5 0,0 0 0,-1-3 0,6 5 0,-9-6 0,12 7 0,-13-8 0,10 5 0,-7-4 0,4 3 0,-5-4 0,4 3 0,1 0 0,2 1 0,-1-1 0,-1 1 0,4 0 0,-1-1 0,0 0 0,3-1 0,-4-1 0,6 1 0,-3-1 0,-2-1 0,2 1 0,-1-1 0,4 1 0,-6-2 0,13 3 0,-5-3 0,6 1 0,-6-3 0,-7 0 0,12-1 0,-13 0 0,20 0 0,-22-1 0,20-1 0,-12-2 0,12-3 0,-5-2 0,-8 1 0,6-6 0,-16 7 0,14-10 0,-11 5 0,6-7 0,-6 5 0,2-5 0,-7 5 0,3-3 0,3-7 0,-6 5 0,5-7 0,-8 11 0,0-1 0,-1-1 0,-1 3 0,0-7 0,-3 12 0,2-10 0,-2 8 0,0-7 0,0 7 0,-1-5 0,0-2 0,0 4 0,0-7 0,0 7 0,0-4 0,0 5 0,0-3 0,0 9 0,0-7 0,0 7 0,0-5 0,0 5 0,0-4 0,1 2 0,-1 1 0,0-3 0,0 2 0,-2-6 0,1 4 0,0-2 0,0 4 0,0 0 0,0-2 0,1 3 0,-1-2 0,0 4 0,1-4 0,-1 4 0,0-9 0,0 8 0,-1-7 0,1 7 0,-1-3 0,1 3 0,-1-3 0,1 4 0,-1-5 0,0 5 0,0 0 0,1 2 0,0 1 0,1 1 0,0 0 0,-1-4 0,-1 0 0,0 0 0,1 2 0,0 2 0,1 1 0,-1-2 0,0 0 0,-1-1 0,-2 0 0,-3-1 0,2 2 0,0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8T09:25:58.0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 24575,'8'-3'0,"3"0"0,1 0 0,4 1 0,-3 0 0,2 2 0,-1 0 0,-3 0 0,-2 0 0,-3 0 0,-2 0 0,-2 0 0,0 0 0,-2 1 0,2-1 0,-1 1 0,3 2 0,-1 0 0,3 3 0,-1-1 0,3 2 0,0 0 0,2 1 0,-3 0 0,1 0 0,-3-1 0,-1-2 0,2 4 0,-1 0 0,2 3 0,-1 1 0,-1-3 0,-2 2 0,0-2 0,-1 5 0,0-7 0,-1 5 0,-1-5 0,0 3 0,0-4 0,0 2 0,-1-2 0,0 0 0,-2-1 0,1-3 0,0 1 0,-2-1 0,1-1 0,-2 2 0,1-1 0,-4 2 0,4-2 0,-6 4 0,2-3 0,-4 2 0,4-2 0,-5 4 0,6-4 0,-9 5 0,9-5 0,-2 0 0,6-3 0,1 1 0,0-2 0,1 1 0,0 0 0,5-1 0,1 0 0,10 0 0,-5 1 0,15-1 0,-12 1 0,18 2 0,-10 0 0,8 2 0,-8 1 0,-5-2 0,-3 2 0,-6-2 0,1 0 0,-4-1 0,-1-1 0,0 3 0,0-1 0,2 4 0,0 1 0,1 2 0,-1 1 0,1 2 0,-3-4 0,0 1 0,0-2 0,0-1 0,0 6 0,-2-6 0,1 2 0,-2-2 0,0-3 0,1 3 0,-1-1 0,-1-1 0,0-1 0,-1-2 0,0 0 0,0 0 0,-1-1 0,0 2 0,0-2 0,-1 1 0,-1-1 0,0 0 0,-2 2 0,3-2 0,-6 2 0,5-3 0,-5 2 0,5-1 0,-8 2 0,7-3 0,-6 2 0,7-3 0,-4 1 0,0 0 0,0-1 0,0 0 0,-4-1 0,2 0 0,-9-1 0,1-2 0,-2 0 0,2 0 0,4-1 0,3 2 0,-7-4 0,6 1 0,-3-1 0,6 2 0,6 3 0,0 0 0,2 1 0,0 0 0,1 0 0,0-1 0,0 1 0,1 0 0,-1-1 0,-1 1 0,-2 0 0,-2 0 0,1 0 0,1 1 0,3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8T09:26:00.9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1417 332 24575,'-12'-12'0,"-13"-7"0,-10-7 0,1 1 0,-1 2 0,-18-8 0,7 6 0,-14-7 0,21 12 0,3 5 0,0-1 0,0 0 0,5 4 0,3 1 0,6 4 0,-9-2 0,11 4 0,-8-2 0,10 4 0,-2 0 0,-1 1 0,1 0 0,-11-1 0,10 1 0,-6 0 0,3 0 0,12 2 0,-25-1 0,21 1 0,-21 0 0,20 0 0,-1 0 0,-10 1 0,7 1 0,-12 1 0,12 0 0,0 1 0,0 2 0,1 1 0,2 0 0,1 0 0,1 1 0,-1 1 0,0 1 0,-3 2 0,10-5 0,-12 9 0,10-6 0,-3 4 0,2-2 0,1 1 0,3-3 0,-6 8 0,5-5 0,-1 3 0,0-2 0,0 5 0,-1 3 0,0 0 0,-1 9 0,6-11 0,-2 7 0,3-8 0,3-1 0,0 0 0,0-2 0,2 7 0,1-8 0,-1 5 0,1 1 0,0 6 0,1 0 0,0 0 0,2-3 0,1 3 0,2 1 0,-1 0 0,8 2 0,-2-8 0,5 9 0,-5-11 0,13 11 0,-2-8 0,14 13 0,-11-15 0,13 9 0,-19-16 0,26 17 0,-20-14 0,10 6 0,-9-9 0,-1-1 0,0 0 0,-4-4 0,9 3 0,-9-6 0,8 3 0,-8-4 0,-4-1 0,17-3 0,-8 0 0,10-1 0,7 0 0,-12 0 0,6-2 0,8-2 0,-23 0 0,22-5 0,-29 5 0,18-7 0,-15 2 0,8-5 0,-5 1 0,2-3 0,-1-1 0,0-3 0,0-1 0,0-2 0,-1-1 0,0-2 0,-5 5 0,-2 1 0,-5 6 0,5-10 0,-5 9 0,3-7 0,-6 10 0,-2 3 0,1-4 0,-2 4 0,2-6 0,-3 7 0,1-3 0,-3 7 0,2-4 0,0 0 0,0 1 0,1-4 0,0 2 0,0 0 0,-1 1 0,1-6 0,-1 6 0,2-9 0,-2 10 0,0-6 0,-2 8 0,2-5 0,-2 4 0,1-3 0,0 3 0,0-4 0,0 4 0,0-8 0,0 5 0,0-2 0,0 0 0,-1 4 0,1 1 0,-1 0 0,0 2 0,0 0 0,0 2 0,0 0 0,0 0 0,0 0 0,0 0 0,0 0 0,0 0 0,0-1 0,0 1 0,0 0 0,0-1 0,0-2 0,0 0 0,1 0 0,0 0 0,0 0 0,-1 1 0,1 0 0,0 0 0,-1 0 0,1-1 0,-1 0 0,1 1 0,0 0 0,-1 0 0,0 2 0,0-1 0,0 2 0,1-2 0,-1 1 0,1-2 0,-1 1 0,2-2 0,0-1 0,-1 2 0,1-2 0,-2 2 0,1-2 0,1 1 0,-1-1 0,0 1 0,1-2 0,-2 4 0,0-2 0,0 3 0,0-1 0,1 1 0,-1 1 0,1 0 0,-1-1 0,1 0 0,0 0 0,0 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8T09:26:03.9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0 24575,'-4'17'0,"1"-5"0,0 5 0,2-4 0,-1 2 0,1 2 0,0-3 0,0-2 0,1-1 0,0-5 0,0-2 0,0-1 0,0-1 0,0 0 0,0-1 0,0 1 0,0 1 0,0 4 0,0-2 0,0 7 0,0-4 0,0 1 0,0 4 0,0-6 0,0 8 0,0-6 0,0 2 0,0-2 0,-1-4 0,1 1 0,0-3 0,-1 1 0,1-1 0,0-2 0,1 2 0,-1 0 0,1 2 0,-1-1 0,0 1 0,0-3 0,0 1 0,0-1 0,0-2 0,2 2 0,-1-2 0,6 1 0,12-1 0,-4 0 0,23 0 0,-10 0 0,11 0 0,-4 0 0,-2 1 0,-8 0 0,8-1 0,-17 0 0,11 0 0,-14 0 0,-3-1 0,0 1 0,-5-1 0,0 0 0,-2 1 0,1-1 0,-1 1 0,0 0 0,0 0 0,0 0 0,-1 0 0,1 0 0,-2 0 0,1-1 0,-1 0 0,1 1 0,-1-1 0,-1 0 0,1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8T09:26:05.3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0 24575,'-4'9'0,"1"0"0,-1 0 0,0 3 0,0 2 0,1-2 0,0 1 0,1-5 0,0 4 0,0-2 0,1 3 0,-1-4 0,1 0 0,1-4 0,-1 3 0,0-4 0,0 5 0,1-3 0,-1 2 0,1-3 0,-1 1 0,1-2 0,-1 4 0,1-3 0,-1 1 0,1 0 0,0-1 0,0 2 0,0-1 0,0 0 0,0 2 0,0-2 0,-1 0 0,1 1 0,-1-4 0,1 4 0,0-1 0,-1 0 0,1-1 0,-1 0 0,1-4 0,0 0 0,2-5 0,-1 1 0,1-1 0,-1 2 0,-1 2 0,0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8T09:27:33.9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626 170 24575,'-3'-6'0,"0"-1"0,-1 1 0,-2-1 0,0 1 0,1 1 0,0 0 0,2 2 0,-1-2 0,-1 0 0,-2-2 0,-2-1 0,2 3 0,-2-2 0,4 3 0,-3-1 0,2 0 0,0 1 0,0 1 0,-2-1 0,3 2 0,-5-3 0,2 1 0,1 1 0,-4 0 0,6 1 0,-6-2 0,3 1 0,-2-1 0,1 1 0,0 1 0,-1 1 0,-6-1 0,1 0 0,1 1 0,3 0 0,-4 0 0,6 1 0,-4 0 0,4-1 0,5 1 0,-2-1 0,2 1 0,2-1 0,1 1 0,0 0 0,-3-1 0,1 1 0,-7-2 0,4 1 0,-3-1 0,2 1 0,2 0 0,-2 0 0,4 1 0,0-1 0,0 1 0,-1 0 0,1 0 0,-4-1 0,3 0 0,-2 1 0,0-1 0,-2 0 0,3 1 0,-2-1 0,3 1 0,0 0 0,1 0 0,0 0 0,2 0 0,0 0 0,-1 0 0,0 0 0,1-1 0,-1 1 0,-1-1 0,0 1 0,-2 0 0,3 0 0,-2 0 0,1 1 0,-1-1 0,-1 1 0,0-1 0,1 1 0,-4 0 0,3 1 0,-5 0 0,7-1 0,-2 0 0,2 1 0,2-1 0,-2 0 0,1 0 0,0 0 0,0 0 0,0 1 0,0 0 0,-1 0 0,0 1 0,0 0 0,1-1 0,-2 2 0,3-2 0,-4 2 0,3-2 0,-2 2 0,1-1 0,1 1 0,-1 0 0,0 0 0,1-1 0,-2 3 0,2-3 0,0 2 0,0 0 0,0-1 0,0 1 0,1 2 0,0-2 0,0 1 0,-1 0 0,2-2 0,-2 6 0,1-6 0,0 5 0,1-6 0,-1 3 0,0 0 0,0-1 0,0 1 0,1 0 0,0-1 0,0 4 0,-1-4 0,1 4 0,-1-2 0,1 2 0,0-1 0,0 0 0,0-1 0,0 1 0,0-5 0,0 5 0,0-5 0,0 2 0,1 0 0,0 0 0,0 1 0,-1-3 0,1 2 0,-1-3 0,1 3 0,-1-3 0,0 2 0,1-2 0,-1 2 0,0-2 0,0 2 0,0 1 0,0-1 0,0 4 0,0-3 0,0 2 0,0-3 0,0 2 0,0-3 0,0 0 0,0-1 0,0-1 0,0 2 0,0-1 0,0 0 0,0 0 0,0-1 0,0 0 0,0 0 0,0 1 0,0 0 0,0 0 0,0-1 0,0 1 0,1 0 0,-1-1 0,0 2 0,1-2 0,-1 0 0,1 1 0,-1 0 0,0 0 0,0-1 0,0 0 0,0 1 0,1 2 0,0 1 0,1 2 0,0 7 0,1 2 0,-2 7 0,0 1 0,-1-5 0,0 7 0,0 1 0,0-2 0,0 1 0,0-12 0,0-2 0,0-4 0,0-3 0,0-2 0,0-2 0,0 0 0,0 1 0,0 1 0,0 1 0,0-1 0,0 0 0,0-1 0,0 1 0,0-1 0,1 1 0,-1-1 0,1 4 0,1 0 0,-1-1 0,1 3 0,-1-4 0,2 4 0,0-2 0,0 0 0,1 3 0,-1-5 0,3 7 0,-3-6 0,6 7 0,-1-4 0,2 2 0,-1-2 0,-5-5 0,0 0 0,-2-2 0,2 2 0,-1-2 0,5 3 0,-2-2 0,4 2 0,-3-2 0,5 1 0,-3-2 0,3 1 0,3 0 0,-2 0 0,6-1 0,-6 0 0,1-1 0,-8 0 0,7 0 0,-8 0 0,9 0 0,-7 0 0,5-1 0,-6 1 0,1-1 0,-4 0 0,3 0 0,-4 1 0,0-1 0,-1 1 0,0 0 0,0-1 0,2 0 0,4 1 0,-2-1 0,7 0 0,-7 1 0,5-1 0,1 0 0,-3 1 0,7-2 0,-6 1 0,4-2 0,-2 1 0,-2-1 0,-2 1 0,1-1 0,0 0 0,-1 1 0,2-2 0,-5 2 0,1 0 0,0-1 0,-2 2 0,10-7 0,-7 4 0,14-8 0,-13 7 0,6-3 0,-3 2 0,-3 2 0,3-3 0,-7 4 0,5-4 0,-4 3 0,2-2 0,2-1 0,-5 4 0,3-4 0,0 0 0,-1 1 0,2-3 0,-2 2 0,-1 0 0,2-1 0,-2 3 0,2-6 0,-2 5 0,1-4 0,-1 0 0,1-1 0,-1-3 0,0 2 0,-1-4 0,0 1 0,-1 2 0,1-6 0,-2 8 0,2-3 0,-2 5 0,0-3 0,0 7 0,-1-8 0,1 3 0,-1-2 0,0-1 0,-3-6 0,1 3 0,-1-1 0,0 3 0,0 4 0,-1-4 0,1 4 0,1 2 0,1 4 0,-1-1 0,1 2 0,0 0 0,-1 1 0,0-3 0,0 1 0,-2-1 0,-1-3 0,3 4 0,-8-8 0,6 7 0,-5-5 0,2 3 0,1-1 0,0 0 0,-1-1 0,5 6 0,-2-3 0,-1 0 0,1 0 0,-2 0 0,3 0 0,0 2 0,1 0 0,-1-1 0,-1-1 0,1 1 0,-3-2 0,1 1 0,0 1 0,-1-2 0,3 4 0,0 0 0,1 0 0,1 1 0,0 1 0,1 0 0,0 0 0,-2 0 0,1 0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5711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Ziel: kurz zeigen, welches Problem das Projekt löst, wie die Pipeline aufgebaut ist und wie die Resultate überprüft werden.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 erklären: Mobility Analyst der Stadt Zürich.
Problem: Rohdaten sind verteilt und nicht direkt analysierbar.
Lösung: tägliche, kombinierte Tabelle.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Lokaler Teil ist für Entwicklung und Reproduzierbarkeit wichtig.
Cloud-Teil ist die finale Architektur: Data Lake und Data Warehouse.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1CD23-12C4-D20F-EE1C-A1E3DA7FB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D030C7-B58A-6960-DF60-0B6D2385E5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7498D6-B815-5A9E-9674-77F58A6574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Lokaler Teil ist für Entwicklung und Reproduzierbarkeit wichtig.
Cloud-Teil ist die finale Architektur: Data Lake und Data Warehouse.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8435F9-A967-8DD6-FBEB-27113F338E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387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E7B21-6186-FC0E-946C-5BD78B6F1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DDEFE8-C123-B1BD-4DCE-7B4192C76D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C8B099-0EC6-4065-A7ED-114A28E82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Lokaler Teil ist für Entwicklung und Reproduzierbarkeit wichtig.
Cloud-Teil ist die finale Architektur: Data Lake und Data Warehouse.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E930D-359B-4EA9-4272-14D846B6B1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9604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0966E-AB03-5C13-1543-B8E504E53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F994DC-CCFA-4DF4-4978-2C1013CD56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386776-DBB0-608A-6ED9-E3360739FB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Cloud Pipeline besteht aus zwei DAGs: Data Lake Ingestion und Warehouse Transformation.
Raw Dateien landen zuerst in GCS, danach entsteht die finale Tabelle in BigQuery.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02C9F-B7A5-3566-0193-F521816853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8141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Terraform ist Infrastructure as Code.
Man beschreibt Ressourcen in Dateien, Terraform erstellt diese dann in Google Cloud.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Partitionierung und Clustering sind BigQuery-Optimierungen.
Nicht zu technisch: einfach sagen, dass Abfragen effizienter und besser strukturiert sind.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 erklären, dass die README nicht nur Code beschreibt, sondern auch eine Schritt-für-Schritt-Anleitung für andere enthält.
Sicherheitsaspekt: Keys nicht committen.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207FE-7A2C-F738-0B57-CC6D0A82B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C1CD81-7D34-7F58-35A0-DC22AD0E4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61459E-A8C8-573C-4730-502EA80EC8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 erklären, dass die README nicht nur Code beschreibt, sondern auch eine Schritt-für-Schritt-Anleitung für andere enthält.
Sicherheitsaspekt: Keys nicht committen.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0DAF8-5074-0EC4-2EDA-5DBC9948D0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6954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F135A-BFE6-0474-6B5D-F13F5B494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416087-75BC-7DCB-62BA-65EEDA032C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9A371A-7F5A-151E-3E1F-3E47C44D27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 erklären, dass die README nicht nur Code beschreibt, sondern auch eine Schritt-für-Schritt-Anleitung für andere enthält.
Sicherheitsaspekt: Keys nicht committen.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FA6E2-711A-1F9A-92AE-62F783B0AA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4979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33629-23D5-074E-D73A-632FCE612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488BDC-8A2D-065E-B61C-7E752CF428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B19485-A480-D75D-E309-9608CBDA9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 erklären, dass die README nicht nur Code beschreibt, sondern auch eine Schritt-für-Schritt-Anleitung für andere enthält.
Sicherheitsaspekt: Keys nicht committen.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1E4128-AC0A-2190-9F5D-F787984421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310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510528"/>
            <a:ext cx="11384280" cy="0"/>
          </a:xfrm>
          <a:prstGeom prst="line">
            <a:avLst/>
          </a:prstGeom>
          <a:noFill/>
          <a:ln w="1016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502920" y="6565392"/>
            <a:ext cx="5943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</a:rPr>
              <a:t>DENG Mobility Project · Zurich Pipeline,  May 22,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‹Nr.›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onakus/DENG_Mobility.gi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0" Type="http://schemas.openxmlformats.org/officeDocument/2006/relationships/customXml" Target="../ink/ink3.xml"/><Relationship Id="rId4" Type="http://schemas.openxmlformats.org/officeDocument/2006/relationships/image" Target="../media/image8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openxmlformats.org/officeDocument/2006/relationships/customXml" Target="../ink/ink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customXml" Target="../ink/ink4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13" Type="http://schemas.openxmlformats.org/officeDocument/2006/relationships/image" Target="../media/image21.png"/><Relationship Id="rId18" Type="http://schemas.openxmlformats.org/officeDocument/2006/relationships/customXml" Target="../ink/ink13.xml"/><Relationship Id="rId26" Type="http://schemas.openxmlformats.org/officeDocument/2006/relationships/customXml" Target="../ink/ink17.xml"/><Relationship Id="rId3" Type="http://schemas.openxmlformats.org/officeDocument/2006/relationships/image" Target="../media/image16.png"/><Relationship Id="rId21" Type="http://schemas.openxmlformats.org/officeDocument/2006/relationships/image" Target="../media/image25.png"/><Relationship Id="rId7" Type="http://schemas.openxmlformats.org/officeDocument/2006/relationships/image" Target="../media/image18.png"/><Relationship Id="rId12" Type="http://schemas.openxmlformats.org/officeDocument/2006/relationships/customXml" Target="../ink/ink10.xml"/><Relationship Id="rId17" Type="http://schemas.openxmlformats.org/officeDocument/2006/relationships/image" Target="../media/image23.png"/><Relationship Id="rId25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6" Type="http://schemas.openxmlformats.org/officeDocument/2006/relationships/customXml" Target="../ink/ink12.xml"/><Relationship Id="rId20" Type="http://schemas.openxmlformats.org/officeDocument/2006/relationships/customXml" Target="../ink/ink1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11" Type="http://schemas.openxmlformats.org/officeDocument/2006/relationships/image" Target="../media/image20.png"/><Relationship Id="rId24" Type="http://schemas.openxmlformats.org/officeDocument/2006/relationships/customXml" Target="../ink/ink16.xml"/><Relationship Id="rId5" Type="http://schemas.openxmlformats.org/officeDocument/2006/relationships/image" Target="../media/image17.png"/><Relationship Id="rId15" Type="http://schemas.openxmlformats.org/officeDocument/2006/relationships/image" Target="../media/image22.png"/><Relationship Id="rId23" Type="http://schemas.openxmlformats.org/officeDocument/2006/relationships/image" Target="../media/image26.png"/><Relationship Id="rId10" Type="http://schemas.openxmlformats.org/officeDocument/2006/relationships/customXml" Target="../ink/ink9.xml"/><Relationship Id="rId19" Type="http://schemas.openxmlformats.org/officeDocument/2006/relationships/image" Target="../media/image24.png"/><Relationship Id="rId4" Type="http://schemas.openxmlformats.org/officeDocument/2006/relationships/customXml" Target="../ink/ink6.xml"/><Relationship Id="rId9" Type="http://schemas.openxmlformats.org/officeDocument/2006/relationships/image" Target="../media/image19.png"/><Relationship Id="rId14" Type="http://schemas.openxmlformats.org/officeDocument/2006/relationships/customXml" Target="../ink/ink11.xml"/><Relationship Id="rId22" Type="http://schemas.openxmlformats.org/officeDocument/2006/relationships/customXml" Target="../ink/ink15.xml"/><Relationship Id="rId27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31520" y="11887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noProof="0" dirty="0">
                <a:solidFill>
                  <a:srgbClr val="FFFFFF"/>
                </a:solidFill>
              </a:rPr>
              <a:t>DENG Mobility Project</a:t>
            </a:r>
            <a:endParaRPr lang="en-US" sz="3800" noProof="0" dirty="0"/>
          </a:p>
        </p:txBody>
      </p:sp>
      <p:sp>
        <p:nvSpPr>
          <p:cNvPr id="5" name="Text 3"/>
          <p:cNvSpPr/>
          <p:nvPr/>
        </p:nvSpPr>
        <p:spPr>
          <a:xfrm>
            <a:off x="758952" y="201422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noProof="0" dirty="0">
                <a:solidFill>
                  <a:srgbClr val="CFE8FF"/>
                </a:solidFill>
              </a:rPr>
              <a:t>Zurich Pipeline: Mobility and Weather Data</a:t>
            </a:r>
            <a:endParaRPr lang="en-US" sz="2800" noProof="0" dirty="0"/>
          </a:p>
        </p:txBody>
      </p:sp>
      <p:sp>
        <p:nvSpPr>
          <p:cNvPr id="6" name="Text 4"/>
          <p:cNvSpPr/>
          <p:nvPr/>
        </p:nvSpPr>
        <p:spPr>
          <a:xfrm>
            <a:off x="758952" y="2606548"/>
            <a:ext cx="100487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2000" noProof="1">
                <a:solidFill>
                  <a:srgbClr val="DDEBFF"/>
                </a:solidFill>
              </a:rPr>
              <a:t>End-to-End Batch Data Pipeline -&gt; PostgreSQL, Airflow, Terraform, GCS and BigQuery</a:t>
            </a:r>
            <a:endParaRPr lang="en-US" sz="2000" noProof="1"/>
          </a:p>
        </p:txBody>
      </p:sp>
      <p:sp>
        <p:nvSpPr>
          <p:cNvPr id="8" name="Text 6"/>
          <p:cNvSpPr/>
          <p:nvPr/>
        </p:nvSpPr>
        <p:spPr>
          <a:xfrm>
            <a:off x="841248" y="3912616"/>
            <a:ext cx="1591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noProof="0" dirty="0" err="1">
                <a:solidFill>
                  <a:srgbClr val="0B1F33"/>
                </a:solidFill>
              </a:rPr>
              <a:t>Studiums-Präsentation</a:t>
            </a:r>
            <a:endParaRPr lang="en-US" sz="850" noProof="0" dirty="0"/>
          </a:p>
        </p:txBody>
      </p:sp>
      <p:sp>
        <p:nvSpPr>
          <p:cNvPr id="9" name="Shape 7"/>
          <p:cNvSpPr/>
          <p:nvPr/>
        </p:nvSpPr>
        <p:spPr>
          <a:xfrm>
            <a:off x="717618" y="3861815"/>
            <a:ext cx="1591056" cy="338837"/>
          </a:xfrm>
          <a:prstGeom prst="roundRect">
            <a:avLst>
              <a:gd name="adj" fmla="val 25000"/>
            </a:avLst>
          </a:prstGeom>
          <a:solidFill>
            <a:srgbClr val="DFF6ED">
              <a:alpha val="94000"/>
            </a:srgbClr>
          </a:solidFill>
          <a:ln w="12700">
            <a:solidFill>
              <a:srgbClr val="DFF6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0" name="Text 8"/>
          <p:cNvSpPr/>
          <p:nvPr/>
        </p:nvSpPr>
        <p:spPr>
          <a:xfrm>
            <a:off x="448378" y="3789681"/>
            <a:ext cx="20540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noProof="0" dirty="0">
                <a:solidFill>
                  <a:srgbClr val="0B1F33"/>
                </a:solidFill>
              </a:rPr>
              <a:t>Final Project</a:t>
            </a:r>
            <a:endParaRPr lang="en-US" sz="1600" noProof="0" dirty="0"/>
          </a:p>
        </p:txBody>
      </p:sp>
      <p:sp>
        <p:nvSpPr>
          <p:cNvPr id="11" name="Text 9"/>
          <p:cNvSpPr/>
          <p:nvPr/>
        </p:nvSpPr>
        <p:spPr>
          <a:xfrm>
            <a:off x="768096" y="589788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noProof="0" dirty="0">
                <a:solidFill>
                  <a:srgbClr val="DDEBFF"/>
                </a:solidFill>
              </a:rPr>
              <a:t>Susanne Pfenninger · Diego Gonzalez</a:t>
            </a:r>
            <a:endParaRPr lang="en-US" sz="1200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 noProof="0"/>
              <a:t>1</a:t>
            </a:fld>
            <a:endParaRPr lang="en-US" noProof="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3E948E1F-40A3-570F-9257-BC5769ED3609}"/>
              </a:ext>
            </a:extLst>
          </p:cNvPr>
          <p:cNvSpPr/>
          <p:nvPr/>
        </p:nvSpPr>
        <p:spPr>
          <a:xfrm>
            <a:off x="768096" y="4477003"/>
            <a:ext cx="100487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de-CH" noProof="1">
                <a:solidFill>
                  <a:srgbClr val="DDEBFF"/>
                </a:solidFill>
              </a:rPr>
              <a:t>Git-Hub </a:t>
            </a:r>
            <a:r>
              <a:rPr lang="de-CH" noProof="1">
                <a:solidFill>
                  <a:srgbClr val="EFF8EE"/>
                </a:solidFill>
              </a:rPr>
              <a:t>Repository: </a:t>
            </a:r>
            <a:r>
              <a:rPr lang="de-CH" noProof="1">
                <a:solidFill>
                  <a:srgbClr val="EFF8EE"/>
                </a:solidFill>
                <a:hlinkClick r:id="rId3"/>
              </a:rPr>
              <a:t>https://github.com/konakus/DENG_Mobility.git</a:t>
            </a:r>
            <a:r>
              <a:rPr lang="de-CH" noProof="1">
                <a:solidFill>
                  <a:srgbClr val="EFF8EE"/>
                </a:solidFill>
              </a:rPr>
              <a:t>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22588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Use Case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256829"/>
            <a:ext cx="11361836" cy="253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An urban data analyst from Zurich wants to understand how weather conditions affect mobility.</a:t>
            </a:r>
          </a:p>
        </p:txBody>
      </p:sp>
      <p:sp>
        <p:nvSpPr>
          <p:cNvPr id="7" name="Text 5"/>
          <p:cNvSpPr/>
          <p:nvPr/>
        </p:nvSpPr>
        <p:spPr>
          <a:xfrm>
            <a:off x="886968" y="1810512"/>
            <a:ext cx="2898648" cy="2926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</a:rPr>
              <a:t>Urban Mobility Analyst</a:t>
            </a:r>
            <a:endParaRPr lang="en-US" sz="1070" dirty="0"/>
          </a:p>
          <a:p>
            <a:pPr marL="0" indent="0">
              <a:buNone/>
            </a:pPr>
            <a:endParaRPr lang="en-US" sz="1070" dirty="0"/>
          </a:p>
          <a:p>
            <a:pPr marL="0" indent="0">
              <a:buNone/>
            </a:pPr>
            <a:r>
              <a:rPr lang="en-US" sz="1070" dirty="0">
                <a:solidFill>
                  <a:srgbClr val="111827"/>
                </a:solidFill>
              </a:rPr>
              <a:t>Analysiert Fussgänger- und Veloverkehr im Zusammenhang mit Wetterdaten.</a:t>
            </a:r>
            <a:endParaRPr lang="en-US" sz="1070" dirty="0"/>
          </a:p>
        </p:txBody>
      </p:sp>
      <p:sp>
        <p:nvSpPr>
          <p:cNvPr id="14" name="Text 12"/>
          <p:cNvSpPr/>
          <p:nvPr/>
        </p:nvSpPr>
        <p:spPr>
          <a:xfrm>
            <a:off x="691417" y="2288324"/>
            <a:ext cx="2319740" cy="357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3"/>
                </a:solidFill>
              </a:rPr>
              <a:t>Traffic </a:t>
            </a:r>
          </a:p>
          <a:p>
            <a:pPr marL="0" indent="0">
              <a:buNone/>
            </a:pPr>
            <a:r>
              <a:rPr lang="en-US" sz="1600" dirty="0"/>
              <a:t>Zurich mobility database</a:t>
            </a:r>
          </a:p>
        </p:txBody>
      </p:sp>
      <p:sp>
        <p:nvSpPr>
          <p:cNvPr id="16" name="Text 14"/>
          <p:cNvSpPr/>
          <p:nvPr/>
        </p:nvSpPr>
        <p:spPr>
          <a:xfrm>
            <a:off x="566927" y="1751546"/>
            <a:ext cx="1098776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noProof="0" dirty="0"/>
              <a:t>Key question: How do mobility patterns change depending on rain, temperature, weekdays, or weekends?</a:t>
            </a:r>
            <a:endParaRPr lang="en-US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097621FA-6121-EC44-C0E6-0C8BD23C49C5}"/>
              </a:ext>
            </a:extLst>
          </p:cNvPr>
          <p:cNvSpPr/>
          <p:nvPr/>
        </p:nvSpPr>
        <p:spPr>
          <a:xfrm>
            <a:off x="1032383" y="5698791"/>
            <a:ext cx="1458936" cy="4990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noProof="1">
                <a:solidFill>
                  <a:srgbClr val="0B1F33"/>
                </a:solidFill>
              </a:rPr>
              <a:t>Weather</a:t>
            </a:r>
          </a:p>
          <a:p>
            <a:pPr marL="0" indent="0">
              <a:buNone/>
            </a:pPr>
            <a:r>
              <a:rPr lang="en-US" sz="1600" noProof="1">
                <a:solidFill>
                  <a:srgbClr val="0B1F33"/>
                </a:solidFill>
              </a:rPr>
              <a:t>Open Meteo API</a:t>
            </a:r>
            <a:endParaRPr lang="en-US" sz="1600" noProof="1"/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43F9E97F-0F0C-B71E-0BE0-FFA19EFB0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91" y="4233944"/>
            <a:ext cx="1353965" cy="1353965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6A1A391C-B08A-ADFB-5A13-C186C125F0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4901" y="3296517"/>
            <a:ext cx="7411394" cy="1740384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597365B3-8BDA-40DE-E28E-D59AABE4E6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417" y="2767238"/>
            <a:ext cx="2140868" cy="1261583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EE4E33D8-2AD0-0E04-3C45-4F3C93C08F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3100" y="3367618"/>
            <a:ext cx="2100071" cy="15433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</a:t>
            </a:r>
            <a:r>
              <a:rPr lang="de-CH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</a:t>
            </a:r>
            <a:r>
              <a:rPr lang="de-CH" sz="3200" b="1" dirty="0"/>
              <a:t>Architecture</a:t>
            </a:r>
            <a:endParaRPr lang="de-CH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38785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/>
              <a:t>The project combines local development with a cloud pipeline.</a:t>
            </a:r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24D12806-8634-0DFC-22D8-FB5E6B949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1753886"/>
            <a:ext cx="4234688" cy="3350227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96ACD59F-3750-2769-9E1F-EDBE75A072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7270" y="1753886"/>
            <a:ext cx="4008078" cy="3453114"/>
          </a:xfrm>
          <a:prstGeom prst="rect">
            <a:avLst/>
          </a:prstGeom>
        </p:spPr>
      </p:pic>
      <p:pic>
        <p:nvPicPr>
          <p:cNvPr id="38" name="Grafik 37">
            <a:extLst>
              <a:ext uri="{FF2B5EF4-FFF2-40B4-BE49-F238E27FC236}">
                <a16:creationId xmlns:a16="http://schemas.microsoft.com/office/drawing/2014/main" id="{ACEBA777-A8C2-7CB6-C579-11A15690577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7363"/>
          <a:stretch>
            <a:fillRect/>
          </a:stretch>
        </p:blipFill>
        <p:spPr>
          <a:xfrm>
            <a:off x="2293677" y="5499434"/>
            <a:ext cx="8148771" cy="838046"/>
          </a:xfrm>
          <a:prstGeom prst="rect">
            <a:avLst/>
          </a:prstGeom>
        </p:spPr>
      </p:pic>
      <p:sp>
        <p:nvSpPr>
          <p:cNvPr id="39" name="Pfeil nach rechts 38">
            <a:extLst>
              <a:ext uri="{FF2B5EF4-FFF2-40B4-BE49-F238E27FC236}">
                <a16:creationId xmlns:a16="http://schemas.microsoft.com/office/drawing/2014/main" id="{0FD0CCEA-A516-7A68-8F29-13BDFC04C2DB}"/>
              </a:ext>
            </a:extLst>
          </p:cNvPr>
          <p:cNvSpPr/>
          <p:nvPr/>
        </p:nvSpPr>
        <p:spPr>
          <a:xfrm>
            <a:off x="5386830" y="2793999"/>
            <a:ext cx="1207405" cy="482601"/>
          </a:xfrm>
          <a:prstGeom prst="rightArrow">
            <a:avLst/>
          </a:prstGeom>
          <a:solidFill>
            <a:srgbClr val="0A1F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A9E30BF8-833F-4847-5B40-EF4E9D45D18C}"/>
              </a:ext>
            </a:extLst>
          </p:cNvPr>
          <p:cNvSpPr txBox="1"/>
          <p:nvPr/>
        </p:nvSpPr>
        <p:spPr>
          <a:xfrm>
            <a:off x="4984191" y="3417651"/>
            <a:ext cx="2113079" cy="1538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0" dirty="0"/>
              <a:t>Data Transfer</a:t>
            </a:r>
          </a:p>
          <a:p>
            <a:r>
              <a:rPr lang="en-US" b="1" dirty="0"/>
              <a:t>t</a:t>
            </a:r>
            <a:r>
              <a:rPr lang="en-US" b="1" noProof="0" dirty="0"/>
              <a:t>o Google Cloud</a:t>
            </a:r>
          </a:p>
          <a:p>
            <a:endParaRPr lang="en-US" sz="1000" noProof="0" dirty="0"/>
          </a:p>
          <a:p>
            <a:r>
              <a:rPr lang="en-US" sz="1600" noProof="0" dirty="0"/>
              <a:t>Airflow uploads</a:t>
            </a:r>
          </a:p>
          <a:p>
            <a:r>
              <a:rPr lang="en-US" sz="1600" noProof="0" dirty="0"/>
              <a:t>processed data to</a:t>
            </a:r>
          </a:p>
          <a:p>
            <a:r>
              <a:rPr lang="en-US" sz="1600" noProof="0" dirty="0"/>
              <a:t>Google Cloud Storage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EF55DD8-2556-3D19-3177-76393972DC52}"/>
              </a:ext>
            </a:extLst>
          </p:cNvPr>
          <p:cNvSpPr txBox="1"/>
          <p:nvPr/>
        </p:nvSpPr>
        <p:spPr>
          <a:xfrm>
            <a:off x="6772842" y="6096621"/>
            <a:ext cx="2589366" cy="169277"/>
          </a:xfrm>
          <a:prstGeom prst="rect">
            <a:avLst/>
          </a:prstGeom>
          <a:solidFill>
            <a:srgbClr val="F7F9FB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GB" sz="1100" noProof="1">
                <a:ea typeface="Menlo" panose="020B0609030804020204" pitchFamily="49" charset="0"/>
                <a:cs typeface="Menlo" panose="020B0609030804020204" pitchFamily="49" charset="0"/>
              </a:rPr>
              <a:t>Terraform (Infrastructur as Code.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1DC0773-D3A3-6B3A-7C8B-CBB65E5C312D}"/>
              </a:ext>
            </a:extLst>
          </p:cNvPr>
          <p:cNvSpPr txBox="1"/>
          <p:nvPr/>
        </p:nvSpPr>
        <p:spPr>
          <a:xfrm>
            <a:off x="3755294" y="4695538"/>
            <a:ext cx="910224" cy="177798"/>
          </a:xfrm>
          <a:prstGeom prst="rect">
            <a:avLst/>
          </a:prstGeom>
          <a:solidFill>
            <a:srgbClr val="EFF8EE"/>
          </a:solidFill>
        </p:spPr>
        <p:txBody>
          <a:bodyPr wrap="square" lIns="0" tIns="0" rIns="0" bIns="0" rtlCol="0">
            <a:spAutoFit/>
          </a:bodyPr>
          <a:lstStyle/>
          <a:p>
            <a:pPr marL="0" algn="l" defTabSz="914400" rtl="0" eaLnBrk="1" latinLnBrk="0" hangingPunct="1"/>
            <a:endParaRPr lang="en-GB" sz="1100" noProof="1"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9E9A3-999B-CFD2-2DBE-DD3CA04F6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AE8073A-B12D-EED5-EA08-5633D4039312}"/>
              </a:ext>
            </a:extLst>
          </p:cNvPr>
          <p:cNvSpPr/>
          <p:nvPr/>
        </p:nvSpPr>
        <p:spPr>
          <a:xfrm>
            <a:off x="566928" y="347472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</a:rPr>
              <a:t>3. Local Pipeline</a:t>
            </a:r>
            <a:endParaRPr lang="de-CH" sz="3200" dirty="0"/>
          </a:p>
        </p:txBody>
      </p:sp>
      <p:sp>
        <p:nvSpPr>
          <p:cNvPr id="32" name="Slide Number Placeholder 0">
            <a:extLst>
              <a:ext uri="{FF2B5EF4-FFF2-40B4-BE49-F238E27FC236}">
                <a16:creationId xmlns:a16="http://schemas.microsoft.com/office/drawing/2014/main" id="{4149A9E1-4C8B-9700-7A74-D30E115F956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DBA81A51-8BFC-B5C3-BAAD-2474D72A7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099" y="1753886"/>
            <a:ext cx="4846321" cy="3834114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85718883-F3BC-3F4C-4F00-C562631E3C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4222" y="1997557"/>
            <a:ext cx="5245100" cy="4128834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E9BB20EB-5A20-86C8-6FF5-49C9A72EDF6E}"/>
              </a:ext>
            </a:extLst>
          </p:cNvPr>
          <p:cNvSpPr txBox="1"/>
          <p:nvPr/>
        </p:nvSpPr>
        <p:spPr>
          <a:xfrm>
            <a:off x="1236519" y="5130800"/>
            <a:ext cx="939800" cy="169277"/>
          </a:xfrm>
          <a:prstGeom prst="rect">
            <a:avLst/>
          </a:prstGeom>
          <a:solidFill>
            <a:srgbClr val="EFF8EE"/>
          </a:solidFill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1100" noProof="1">
                <a:ea typeface="Menlo" panose="020B0609030804020204" pitchFamily="49" charset="0"/>
                <a:cs typeface="Menlo" panose="020B0609030804020204" pitchFamily="49" charset="0"/>
              </a:rPr>
              <a:t>ingest_meteo</a:t>
            </a: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6FB89AB7-6242-EFDB-F23D-AF4B1D7FE120}"/>
              </a:ext>
            </a:extLst>
          </p:cNvPr>
          <p:cNvSpPr/>
          <p:nvPr/>
        </p:nvSpPr>
        <p:spPr>
          <a:xfrm>
            <a:off x="5838673" y="1637894"/>
            <a:ext cx="276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CH" b="1" noProof="1"/>
              <a:t>Orchestrated by Airflow</a:t>
            </a:r>
            <a:endParaRPr lang="de-CH" sz="2000" b="1" noProof="1"/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C633F70B-B1A5-6F71-25A6-DD18A1BEC3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7850" y="5588000"/>
            <a:ext cx="2755900" cy="381000"/>
          </a:xfrm>
          <a:prstGeom prst="rect">
            <a:avLst/>
          </a:prstGeom>
        </p:spPr>
      </p:pic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E7BEA1D1-DA55-107F-866A-08D249388712}"/>
              </a:ext>
            </a:extLst>
          </p:cNvPr>
          <p:cNvGrpSpPr/>
          <p:nvPr/>
        </p:nvGrpSpPr>
        <p:grpSpPr>
          <a:xfrm>
            <a:off x="6592443" y="5126538"/>
            <a:ext cx="3143250" cy="524962"/>
            <a:chOff x="6907657" y="4039594"/>
            <a:chExt cx="3143250" cy="524962"/>
          </a:xfrm>
        </p:grpSpPr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FF9D0FED-B37A-042E-6982-14126B14954D}"/>
                </a:ext>
              </a:extLst>
            </p:cNvPr>
            <p:cNvSpPr/>
            <p:nvPr/>
          </p:nvSpPr>
          <p:spPr>
            <a:xfrm>
              <a:off x="6907657" y="4039594"/>
              <a:ext cx="3143250" cy="524962"/>
            </a:xfrm>
            <a:prstGeom prst="rect">
              <a:avLst/>
            </a:prstGeom>
            <a:solidFill>
              <a:srgbClr val="F7F9F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H"/>
            </a:p>
          </p:txBody>
        </p: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672FCF56-F592-0E07-96FA-B0A92C3DD4EA}"/>
                </a:ext>
              </a:extLst>
            </p:cNvPr>
            <p:cNvSpPr txBox="1"/>
            <p:nvPr/>
          </p:nvSpPr>
          <p:spPr>
            <a:xfrm>
              <a:off x="7053490" y="4181586"/>
              <a:ext cx="275455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noProof="0" dirty="0"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(PostgreSQL final table)</a:t>
              </a:r>
            </a:p>
          </p:txBody>
        </p:sp>
      </p:grpSp>
      <p:sp>
        <p:nvSpPr>
          <p:cNvPr id="18" name="Text 1">
            <a:extLst>
              <a:ext uri="{FF2B5EF4-FFF2-40B4-BE49-F238E27FC236}">
                <a16:creationId xmlns:a16="http://schemas.microsoft.com/office/drawing/2014/main" id="{C590CF85-7C0E-FDFA-1D76-91F8F1C5A693}"/>
              </a:ext>
            </a:extLst>
          </p:cNvPr>
          <p:cNvSpPr/>
          <p:nvPr/>
        </p:nvSpPr>
        <p:spPr>
          <a:xfrm>
            <a:off x="5831904" y="6094641"/>
            <a:ext cx="4241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CH" noProof="1"/>
              <a:t>pgAdmin UI: inspection and validation</a:t>
            </a:r>
            <a:endParaRPr lang="de-CH" sz="2000" b="1" noProof="1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8AAF48E2-BC7A-0FF7-BCC2-5F5844CD080C}"/>
              </a:ext>
            </a:extLst>
          </p:cNvPr>
          <p:cNvSpPr txBox="1"/>
          <p:nvPr/>
        </p:nvSpPr>
        <p:spPr>
          <a:xfrm>
            <a:off x="9683750" y="5459978"/>
            <a:ext cx="2343149" cy="1005848"/>
          </a:xfrm>
          <a:prstGeom prst="rect">
            <a:avLst/>
          </a:prstGeom>
          <a:solidFill>
            <a:srgbClr val="0A1F33"/>
          </a:solidFill>
        </p:spPr>
        <p:txBody>
          <a:bodyPr wrap="square" lIns="36000" tIns="36000" rIns="36000" bIns="36000">
            <a:spAutoFit/>
          </a:bodyPr>
          <a:lstStyle/>
          <a:p>
            <a:pPr marL="0" indent="0">
              <a:buNone/>
            </a:pPr>
            <a:r>
              <a:rPr lang="en-US" sz="1500" noProof="1">
                <a:solidFill>
                  <a:schemeClr val="bg1"/>
                </a:solidFill>
              </a:rPr>
              <a:t>Local check: SELECT COUNT(*) FROM mobility_weather_daily;  → expected result: 365 rows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1" name="Freihand 20">
                <a:extLst>
                  <a:ext uri="{FF2B5EF4-FFF2-40B4-BE49-F238E27FC236}">
                    <a16:creationId xmlns:a16="http://schemas.microsoft.com/office/drawing/2014/main" id="{EA49BEF8-D6FB-92E8-B9A6-AAAF2A0E3C14}"/>
                  </a:ext>
                </a:extLst>
              </p14:cNvPr>
              <p14:cNvContentPartPr/>
              <p14:nvPr/>
            </p14:nvContentPartPr>
            <p14:xfrm>
              <a:off x="6323800" y="3070420"/>
              <a:ext cx="1698480" cy="29880"/>
            </p14:xfrm>
          </p:contentPart>
        </mc:Choice>
        <mc:Fallback xmlns="">
          <p:pic>
            <p:nvPicPr>
              <p:cNvPr id="21" name="Freihand 20">
                <a:extLst>
                  <a:ext uri="{FF2B5EF4-FFF2-40B4-BE49-F238E27FC236}">
                    <a16:creationId xmlns:a16="http://schemas.microsoft.com/office/drawing/2014/main" id="{EA49BEF8-D6FB-92E8-B9A6-AAAF2A0E3C1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88160" y="2998780"/>
                <a:ext cx="177012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3" name="Freihand 22">
                <a:extLst>
                  <a:ext uri="{FF2B5EF4-FFF2-40B4-BE49-F238E27FC236}">
                    <a16:creationId xmlns:a16="http://schemas.microsoft.com/office/drawing/2014/main" id="{C9A38C17-7A23-4587-92A9-A994B6B18BFF}"/>
                  </a:ext>
                </a:extLst>
              </p14:cNvPr>
              <p14:cNvContentPartPr/>
              <p14:nvPr/>
            </p14:nvContentPartPr>
            <p14:xfrm>
              <a:off x="7018240" y="5785540"/>
              <a:ext cx="2404440" cy="36360"/>
            </p14:xfrm>
          </p:contentPart>
        </mc:Choice>
        <mc:Fallback xmlns="">
          <p:pic>
            <p:nvPicPr>
              <p:cNvPr id="23" name="Freihand 22">
                <a:extLst>
                  <a:ext uri="{FF2B5EF4-FFF2-40B4-BE49-F238E27FC236}">
                    <a16:creationId xmlns:a16="http://schemas.microsoft.com/office/drawing/2014/main" id="{C9A38C17-7A23-4587-92A9-A994B6B18BF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982600" y="5713900"/>
                <a:ext cx="247608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5" name="Freihand 24">
                <a:extLst>
                  <a:ext uri="{FF2B5EF4-FFF2-40B4-BE49-F238E27FC236}">
                    <a16:creationId xmlns:a16="http://schemas.microsoft.com/office/drawing/2014/main" id="{1A00A9FC-BA40-AB3E-37D0-1FAE799CF8E8}"/>
                  </a:ext>
                </a:extLst>
              </p14:cNvPr>
              <p14:cNvContentPartPr/>
              <p14:nvPr/>
            </p14:nvContentPartPr>
            <p14:xfrm>
              <a:off x="8439880" y="3066820"/>
              <a:ext cx="1902240" cy="57600"/>
            </p14:xfrm>
          </p:contentPart>
        </mc:Choice>
        <mc:Fallback xmlns="">
          <p:pic>
            <p:nvPicPr>
              <p:cNvPr id="25" name="Freihand 24">
                <a:extLst>
                  <a:ext uri="{FF2B5EF4-FFF2-40B4-BE49-F238E27FC236}">
                    <a16:creationId xmlns:a16="http://schemas.microsoft.com/office/drawing/2014/main" id="{1A00A9FC-BA40-AB3E-37D0-1FAE799CF8E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403880" y="2995180"/>
                <a:ext cx="1973880" cy="20124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feld 3">
            <a:extLst>
              <a:ext uri="{FF2B5EF4-FFF2-40B4-BE49-F238E27FC236}">
                <a16:creationId xmlns:a16="http://schemas.microsoft.com/office/drawing/2014/main" id="{FED5EF35-7A21-D6A3-177B-544698368A18}"/>
              </a:ext>
            </a:extLst>
          </p:cNvPr>
          <p:cNvSpPr txBox="1"/>
          <p:nvPr/>
        </p:nvSpPr>
        <p:spPr>
          <a:xfrm>
            <a:off x="467591" y="908085"/>
            <a:ext cx="70796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The project combines local development with a cloud pipeline.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0E6A85B-886B-FD8C-0723-FA19CA043611}"/>
              </a:ext>
            </a:extLst>
          </p:cNvPr>
          <p:cNvSpPr txBox="1"/>
          <p:nvPr/>
        </p:nvSpPr>
        <p:spPr>
          <a:xfrm>
            <a:off x="1357746" y="5283200"/>
            <a:ext cx="1757654" cy="169277"/>
          </a:xfrm>
          <a:prstGeom prst="rect">
            <a:avLst/>
          </a:prstGeom>
          <a:solidFill>
            <a:srgbClr val="EFF8EE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GB" sz="1100" noProof="1">
                <a:ea typeface="Menlo" panose="020B0609030804020204" pitchFamily="49" charset="0"/>
                <a:cs typeface="Menlo" panose="020B0609030804020204" pitchFamily="49" charset="0"/>
              </a:rPr>
              <a:t>Next step:  uploa_to_gcs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EDAECDA-0FE0-9D4C-1538-37B48EB341B9}"/>
              </a:ext>
            </a:extLst>
          </p:cNvPr>
          <p:cNvSpPr txBox="1"/>
          <p:nvPr/>
        </p:nvSpPr>
        <p:spPr>
          <a:xfrm>
            <a:off x="4104150" y="5131956"/>
            <a:ext cx="1039349" cy="168122"/>
          </a:xfrm>
          <a:prstGeom prst="rect">
            <a:avLst/>
          </a:prstGeom>
          <a:solidFill>
            <a:srgbClr val="EFF8EE"/>
          </a:solidFill>
        </p:spPr>
        <p:txBody>
          <a:bodyPr wrap="square" lIns="0" tIns="0" rIns="0" bIns="0" rtlCol="0">
            <a:spAutoFit/>
          </a:bodyPr>
          <a:lstStyle/>
          <a:p>
            <a:pPr marL="0" algn="l" defTabSz="914400" rtl="0" eaLnBrk="1" latinLnBrk="0" hangingPunct="1"/>
            <a:endParaRPr lang="en-GB" sz="1100" noProof="1"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313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473B0-B656-3D3E-C27E-39E1D22B9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BA07206-43B6-1649-19F7-B9A11553112A}"/>
              </a:ext>
            </a:extLst>
          </p:cNvPr>
          <p:cNvSpPr/>
          <p:nvPr/>
        </p:nvSpPr>
        <p:spPr>
          <a:xfrm>
            <a:off x="566928" y="398272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</a:t>
            </a:r>
            <a:r>
              <a:rPr lang="en-US" sz="3200" b="1" noProof="1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Cloud Pipeline  - Overview </a:t>
            </a:r>
            <a:endParaRPr lang="de-CH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E481F11-2AB5-5BAF-1650-E34D36B02B25}"/>
              </a:ext>
            </a:extLst>
          </p:cNvPr>
          <p:cNvSpPr/>
          <p:nvPr/>
        </p:nvSpPr>
        <p:spPr>
          <a:xfrm>
            <a:off x="551648" y="1041915"/>
            <a:ext cx="10924072" cy="633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noProof="0" dirty="0"/>
              <a:t>Airflow transfers data to Google Cloud Storage (GCS)  </a:t>
            </a:r>
          </a:p>
          <a:p>
            <a:r>
              <a:rPr lang="en-US" sz="2000" noProof="0" dirty="0">
                <a:sym typeface="Wingdings" pitchFamily="2" charset="2"/>
              </a:rPr>
              <a:t> </a:t>
            </a:r>
            <a:r>
              <a:rPr lang="en-US" sz="2000" noProof="1"/>
              <a:t>GCS acts as the raw data lake, while BigQuery transforms the data into </a:t>
            </a:r>
            <a:r>
              <a:rPr lang="en-US" sz="2000" noProof="0" dirty="0"/>
              <a:t>the final warehouse table.</a:t>
            </a:r>
            <a:endParaRPr lang="en-US" sz="2000" noProof="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2" name="Slide Number Placeholder 0">
            <a:extLst>
              <a:ext uri="{FF2B5EF4-FFF2-40B4-BE49-F238E27FC236}">
                <a16:creationId xmlns:a16="http://schemas.microsoft.com/office/drawing/2014/main" id="{69D44847-BBEE-5923-AB61-FB716D20279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36" name="Grafik 35">
            <a:extLst>
              <a:ext uri="{FF2B5EF4-FFF2-40B4-BE49-F238E27FC236}">
                <a16:creationId xmlns:a16="http://schemas.microsoft.com/office/drawing/2014/main" id="{1854F515-7B5B-CC18-F728-2000E9BA8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931686"/>
            <a:ext cx="4504184" cy="3880528"/>
          </a:xfrm>
          <a:prstGeom prst="rect">
            <a:avLst/>
          </a:prstGeom>
        </p:spPr>
      </p:pic>
      <p:sp>
        <p:nvSpPr>
          <p:cNvPr id="17" name="Text 1">
            <a:extLst>
              <a:ext uri="{FF2B5EF4-FFF2-40B4-BE49-F238E27FC236}">
                <a16:creationId xmlns:a16="http://schemas.microsoft.com/office/drawing/2014/main" id="{5B492B44-751A-35E7-9556-A897BA814D36}"/>
              </a:ext>
            </a:extLst>
          </p:cNvPr>
          <p:cNvSpPr/>
          <p:nvPr/>
        </p:nvSpPr>
        <p:spPr>
          <a:xfrm>
            <a:off x="787191" y="5981184"/>
            <a:ext cx="10924072" cy="464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noProof="1">
                <a:sym typeface="Wingdings" pitchFamily="2" charset="2"/>
              </a:rPr>
              <a:t>Terraform provisions the GCS bucket and BigQuery dataset used by this pipeline.</a:t>
            </a:r>
            <a:endParaRPr lang="en-US" sz="2000" noProof="1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2A78DB9-4A42-1162-6D63-9C7408B61BD1}"/>
              </a:ext>
            </a:extLst>
          </p:cNvPr>
          <p:cNvSpPr txBox="1"/>
          <p:nvPr/>
        </p:nvSpPr>
        <p:spPr>
          <a:xfrm>
            <a:off x="5634451" y="2337681"/>
            <a:ext cx="48410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noProof="1"/>
              <a:t>The cloud pipeline consits of </a:t>
            </a:r>
            <a:r>
              <a:rPr lang="en-US" sz="1600" b="1" noProof="1">
                <a:solidFill>
                  <a:srgbClr val="0070C0"/>
                </a:solidFill>
              </a:rPr>
              <a:t>two</a:t>
            </a:r>
            <a:r>
              <a:rPr lang="en-US" sz="1600" b="1" noProof="1"/>
              <a:t> Airflow DAGs: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C8BCBB5-0DA4-A1B6-21B1-267C638E2E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1254" y="2908387"/>
            <a:ext cx="3808808" cy="188182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Freihand 12">
                <a:extLst>
                  <a:ext uri="{FF2B5EF4-FFF2-40B4-BE49-F238E27FC236}">
                    <a16:creationId xmlns:a16="http://schemas.microsoft.com/office/drawing/2014/main" id="{3298CA86-28D4-8065-CED2-1AFF1E38B3D1}"/>
                  </a:ext>
                </a:extLst>
              </p14:cNvPr>
              <p14:cNvContentPartPr/>
              <p14:nvPr/>
            </p14:nvContentPartPr>
            <p14:xfrm>
              <a:off x="5989439" y="4219213"/>
              <a:ext cx="226440" cy="10800"/>
            </p14:xfrm>
          </p:contentPart>
        </mc:Choice>
        <mc:Fallback xmlns="">
          <p:pic>
            <p:nvPicPr>
              <p:cNvPr id="13" name="Freihand 12">
                <a:extLst>
                  <a:ext uri="{FF2B5EF4-FFF2-40B4-BE49-F238E27FC236}">
                    <a16:creationId xmlns:a16="http://schemas.microsoft.com/office/drawing/2014/main" id="{3298CA86-28D4-8065-CED2-1AFF1E38B3D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953439" y="4147213"/>
                <a:ext cx="29808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Freihand 13">
                <a:extLst>
                  <a:ext uri="{FF2B5EF4-FFF2-40B4-BE49-F238E27FC236}">
                    <a16:creationId xmlns:a16="http://schemas.microsoft.com/office/drawing/2014/main" id="{E3667895-FAE9-1966-65F9-82508942AD88}"/>
                  </a:ext>
                </a:extLst>
              </p14:cNvPr>
              <p14:cNvContentPartPr/>
              <p14:nvPr/>
            </p14:nvContentPartPr>
            <p14:xfrm>
              <a:off x="5999776" y="3279289"/>
              <a:ext cx="265680" cy="38880"/>
            </p14:xfrm>
          </p:contentPart>
        </mc:Choice>
        <mc:Fallback xmlns="">
          <p:pic>
            <p:nvPicPr>
              <p:cNvPr id="14" name="Freihand 13">
                <a:extLst>
                  <a:ext uri="{FF2B5EF4-FFF2-40B4-BE49-F238E27FC236}">
                    <a16:creationId xmlns:a16="http://schemas.microsoft.com/office/drawing/2014/main" id="{E3667895-FAE9-1966-65F9-82508942AD8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963776" y="3207649"/>
                <a:ext cx="337320" cy="182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21807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469D9-3552-242B-1EB6-4ED323089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4128BA4-ABF0-1E42-A9A8-005989D4DBC3}"/>
              </a:ext>
            </a:extLst>
          </p:cNvPr>
          <p:cNvSpPr/>
          <p:nvPr/>
        </p:nvSpPr>
        <p:spPr>
          <a:xfrm>
            <a:off x="566928" y="525272"/>
            <a:ext cx="96057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Cloud Resources and Warehouse Transformation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E30BA9A-2192-D732-7A29-C511797AFA3F}"/>
              </a:ext>
            </a:extLst>
          </p:cNvPr>
          <p:cNvSpPr/>
          <p:nvPr/>
        </p:nvSpPr>
        <p:spPr>
          <a:xfrm>
            <a:off x="594360" y="1183409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noProof="1"/>
              <a:t>Raw data is stored in GCS, transformed in BigQuery, and served as a final analysis table.</a:t>
            </a: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0C382FD2-1A9F-0DEC-0AA0-87B52BE41EB3}"/>
              </a:ext>
            </a:extLst>
          </p:cNvPr>
          <p:cNvSpPr/>
          <p:nvPr/>
        </p:nvSpPr>
        <p:spPr>
          <a:xfrm>
            <a:off x="396666" y="3555999"/>
            <a:ext cx="2565472" cy="187960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D16EF096-B0D7-3A16-FC91-D2447CD0FFFE}"/>
              </a:ext>
            </a:extLst>
          </p:cNvPr>
          <p:cNvSpPr/>
          <p:nvPr/>
        </p:nvSpPr>
        <p:spPr>
          <a:xfrm>
            <a:off x="396666" y="3921760"/>
            <a:ext cx="107188" cy="118821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9AA0C228-08A2-9FC3-F9AB-21B9F6715F05}"/>
              </a:ext>
            </a:extLst>
          </p:cNvPr>
          <p:cNvSpPr/>
          <p:nvPr/>
        </p:nvSpPr>
        <p:spPr>
          <a:xfrm>
            <a:off x="605307" y="3652012"/>
            <a:ext cx="2356831" cy="221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noProof="0" dirty="0"/>
              <a:t>Raw files in the data lake</a:t>
            </a:r>
            <a:endParaRPr lang="en-US" sz="1600" noProof="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6A652E9E-00A9-3508-F2D1-B67E05C73EE9}"/>
              </a:ext>
            </a:extLst>
          </p:cNvPr>
          <p:cNvSpPr/>
          <p:nvPr/>
        </p:nvSpPr>
        <p:spPr>
          <a:xfrm>
            <a:off x="611700" y="3912230"/>
            <a:ext cx="2262859" cy="118821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traffic_zurich_2025.csv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traffic_zurich_2026.csv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weather_zurich_2025.csv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weather_zurich_2026.csv</a:t>
            </a:r>
            <a:endParaRPr lang="en-US" sz="16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1286D697-C65F-5D75-0247-5238924C635D}"/>
              </a:ext>
            </a:extLst>
          </p:cNvPr>
          <p:cNvSpPr/>
          <p:nvPr/>
        </p:nvSpPr>
        <p:spPr>
          <a:xfrm>
            <a:off x="5839044" y="3555999"/>
            <a:ext cx="2989526" cy="187960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pPr>
              <a:spcAft>
                <a:spcPts val="600"/>
              </a:spcAft>
            </a:pPr>
            <a:endParaRPr lang="de-CH" sz="15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756B0233-E5B7-7FE5-7403-8BE151A20E15}"/>
              </a:ext>
            </a:extLst>
          </p:cNvPr>
          <p:cNvSpPr/>
          <p:nvPr/>
        </p:nvSpPr>
        <p:spPr>
          <a:xfrm>
            <a:off x="5851520" y="3921760"/>
            <a:ext cx="94996" cy="118821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C525533B-5853-7D84-3A2A-E00B03C77DFB}"/>
              </a:ext>
            </a:extLst>
          </p:cNvPr>
          <p:cNvSpPr/>
          <p:nvPr/>
        </p:nvSpPr>
        <p:spPr>
          <a:xfrm>
            <a:off x="6100902" y="364454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noProof="1">
                <a:solidFill>
                  <a:srgbClr val="0B1F33"/>
                </a:solidFill>
              </a:rPr>
              <a:t>Final BigQuery Tables</a:t>
            </a:r>
            <a:endParaRPr lang="en-US" sz="1600" noProof="1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7D762D1C-9677-7E0B-1D4C-95AD959821F9}"/>
              </a:ext>
            </a:extLst>
          </p:cNvPr>
          <p:cNvSpPr/>
          <p:nvPr/>
        </p:nvSpPr>
        <p:spPr>
          <a:xfrm>
            <a:off x="6071461" y="3940124"/>
            <a:ext cx="2852928" cy="110068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endParaRPr lang="en-US" sz="1600" dirty="0">
              <a:solidFill>
                <a:srgbClr val="111827"/>
              </a:solidFill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152E322D-2D8D-7A99-8075-2AEC7A7B24A7}"/>
              </a:ext>
            </a:extLst>
          </p:cNvPr>
          <p:cNvSpPr/>
          <p:nvPr/>
        </p:nvSpPr>
        <p:spPr>
          <a:xfrm>
            <a:off x="9039682" y="3555999"/>
            <a:ext cx="2834640" cy="187960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5DFC2583-E80D-196D-590D-52375F630F01}"/>
              </a:ext>
            </a:extLst>
          </p:cNvPr>
          <p:cNvSpPr/>
          <p:nvPr/>
        </p:nvSpPr>
        <p:spPr>
          <a:xfrm>
            <a:off x="9039682" y="3921760"/>
            <a:ext cx="80264" cy="118821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A9246BA5-CAA2-F236-FC19-A36145AFEB1B}"/>
              </a:ext>
            </a:extLst>
          </p:cNvPr>
          <p:cNvSpPr/>
          <p:nvPr/>
        </p:nvSpPr>
        <p:spPr>
          <a:xfrm>
            <a:off x="9217844" y="3648178"/>
            <a:ext cx="2299440" cy="199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noProof="0" dirty="0"/>
              <a:t>Analysis Use Case</a:t>
            </a:r>
            <a:endParaRPr lang="en-US" sz="1600" noProof="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3252B067-ACAB-0AB9-3635-79DE6023B508}"/>
              </a:ext>
            </a:extLst>
          </p:cNvPr>
          <p:cNvSpPr/>
          <p:nvPr/>
        </p:nvSpPr>
        <p:spPr>
          <a:xfrm>
            <a:off x="9240004" y="4078960"/>
            <a:ext cx="2465472" cy="823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r>
              <a:rPr lang="en-US" sz="1600" noProof="1"/>
              <a:t>Regular updates and comparison between 2026 and the base year 2025</a:t>
            </a:r>
          </a:p>
        </p:txBody>
      </p:sp>
      <p:sp>
        <p:nvSpPr>
          <p:cNvPr id="35" name="Slide Number Placeholder 0">
            <a:extLst>
              <a:ext uri="{FF2B5EF4-FFF2-40B4-BE49-F238E27FC236}">
                <a16:creationId xmlns:a16="http://schemas.microsoft.com/office/drawing/2014/main" id="{CED3E0DA-3690-5434-ED12-E5C278B30FC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39" name="Shape 14">
            <a:extLst>
              <a:ext uri="{FF2B5EF4-FFF2-40B4-BE49-F238E27FC236}">
                <a16:creationId xmlns:a16="http://schemas.microsoft.com/office/drawing/2014/main" id="{83222B21-F1F4-B003-64C7-CEE7D105CC1F}"/>
              </a:ext>
            </a:extLst>
          </p:cNvPr>
          <p:cNvSpPr/>
          <p:nvPr/>
        </p:nvSpPr>
        <p:spPr>
          <a:xfrm>
            <a:off x="1396957" y="5706360"/>
            <a:ext cx="9317778" cy="557268"/>
          </a:xfrm>
          <a:prstGeom prst="roundRect">
            <a:avLst>
              <a:gd name="adj" fmla="val 10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18F16570-DEF7-DFA8-221F-46261ABDFB8E}"/>
              </a:ext>
            </a:extLst>
          </p:cNvPr>
          <p:cNvSpPr txBox="1"/>
          <p:nvPr/>
        </p:nvSpPr>
        <p:spPr>
          <a:xfrm>
            <a:off x="1714753" y="5781293"/>
            <a:ext cx="8682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Terraform creates the cloud resources; Airflow uses them to run the data pipeline.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8FD1DA7A-FC3D-C70D-83E8-B4D3F9CE9D1B}"/>
              </a:ext>
            </a:extLst>
          </p:cNvPr>
          <p:cNvSpPr/>
          <p:nvPr/>
        </p:nvSpPr>
        <p:spPr>
          <a:xfrm>
            <a:off x="1143000" y="1874519"/>
            <a:ext cx="960120" cy="960120"/>
          </a:xfrm>
          <a:prstGeom prst="ellipse">
            <a:avLst/>
          </a:prstGeom>
          <a:solidFill>
            <a:srgbClr val="E8F1FF"/>
          </a:solidFill>
          <a:ln w="12700">
            <a:solidFill>
              <a:srgbClr val="ACCB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">
            <a:extLst>
              <a:ext uri="{FF2B5EF4-FFF2-40B4-BE49-F238E27FC236}">
                <a16:creationId xmlns:a16="http://schemas.microsoft.com/office/drawing/2014/main" id="{6D623AD1-D713-9488-EF72-FEFBBE8A6188}"/>
              </a:ext>
            </a:extLst>
          </p:cNvPr>
          <p:cNvSpPr txBox="1"/>
          <p:nvPr/>
        </p:nvSpPr>
        <p:spPr>
          <a:xfrm>
            <a:off x="1143000" y="2124151"/>
            <a:ext cx="960120" cy="4800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0">
                <a:solidFill>
                  <a:srgbClr val="121E2D"/>
                </a:solidFill>
                <a:latin typeface="Aptos"/>
              </a:rPr>
              <a:t>☁️</a:t>
            </a:r>
          </a:p>
        </p:txBody>
      </p:sp>
      <p:sp>
        <p:nvSpPr>
          <p:cNvPr id="49" name="TextBox 5">
            <a:extLst>
              <a:ext uri="{FF2B5EF4-FFF2-40B4-BE49-F238E27FC236}">
                <a16:creationId xmlns:a16="http://schemas.microsoft.com/office/drawing/2014/main" id="{3B5F1416-58CA-6B9A-D539-D29B94E7EED1}"/>
              </a:ext>
            </a:extLst>
          </p:cNvPr>
          <p:cNvSpPr txBox="1"/>
          <p:nvPr/>
        </p:nvSpPr>
        <p:spPr>
          <a:xfrm>
            <a:off x="1214262" y="2944368"/>
            <a:ext cx="817596" cy="45243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1350" b="1" dirty="0">
                <a:solidFill>
                  <a:srgbClr val="081D31"/>
                </a:solidFill>
                <a:latin typeface="Aptos"/>
              </a:rPr>
              <a:t>GCS Raw </a:t>
            </a:r>
            <a:endParaRPr lang="de-CH" sz="1350" b="1" dirty="0">
              <a:solidFill>
                <a:srgbClr val="081D31"/>
              </a:solidFill>
              <a:latin typeface="Aptos"/>
            </a:endParaRPr>
          </a:p>
          <a:p>
            <a:pPr algn="ctr"/>
            <a:r>
              <a:rPr sz="1350" b="1" dirty="0">
                <a:solidFill>
                  <a:srgbClr val="081D31"/>
                </a:solidFill>
                <a:latin typeface="Aptos"/>
              </a:rPr>
              <a:t>Data</a:t>
            </a:r>
            <a:r>
              <a:rPr lang="de-CH" sz="1350" b="1" dirty="0">
                <a:solidFill>
                  <a:srgbClr val="081D31"/>
                </a:solidFill>
                <a:latin typeface="Aptos"/>
              </a:rPr>
              <a:t> Lake</a:t>
            </a:r>
            <a:endParaRPr sz="1350" b="1" dirty="0">
              <a:solidFill>
                <a:srgbClr val="081D31"/>
              </a:solidFill>
              <a:latin typeface="Aptos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6F00A270-A2DB-9A65-2362-98E079EB231A}"/>
              </a:ext>
            </a:extLst>
          </p:cNvPr>
          <p:cNvSpPr/>
          <p:nvPr/>
        </p:nvSpPr>
        <p:spPr>
          <a:xfrm>
            <a:off x="3499655" y="1874519"/>
            <a:ext cx="960120" cy="960120"/>
          </a:xfrm>
          <a:prstGeom prst="ellipse">
            <a:avLst/>
          </a:prstGeom>
          <a:solidFill>
            <a:srgbClr val="F3EEFF"/>
          </a:solidFill>
          <a:ln w="12700">
            <a:solidFill>
              <a:srgbClr val="CCB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7">
            <a:extLst>
              <a:ext uri="{FF2B5EF4-FFF2-40B4-BE49-F238E27FC236}">
                <a16:creationId xmlns:a16="http://schemas.microsoft.com/office/drawing/2014/main" id="{8A616E76-F19B-678F-48C5-74D214FD460D}"/>
              </a:ext>
            </a:extLst>
          </p:cNvPr>
          <p:cNvSpPr txBox="1"/>
          <p:nvPr/>
        </p:nvSpPr>
        <p:spPr>
          <a:xfrm>
            <a:off x="3499655" y="2124151"/>
            <a:ext cx="960120" cy="4800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0">
                <a:solidFill>
                  <a:srgbClr val="121E2D"/>
                </a:solidFill>
                <a:latin typeface="Aptos"/>
              </a:rPr>
              <a:t>⚙️</a:t>
            </a:r>
          </a:p>
        </p:txBody>
      </p:sp>
      <p:sp>
        <p:nvSpPr>
          <p:cNvPr id="52" name="TextBox 8">
            <a:extLst>
              <a:ext uri="{FF2B5EF4-FFF2-40B4-BE49-F238E27FC236}">
                <a16:creationId xmlns:a16="http://schemas.microsoft.com/office/drawing/2014/main" id="{A5A51960-4F4D-471B-EDFA-5C981E754E76}"/>
              </a:ext>
            </a:extLst>
          </p:cNvPr>
          <p:cNvSpPr txBox="1"/>
          <p:nvPr/>
        </p:nvSpPr>
        <p:spPr>
          <a:xfrm>
            <a:off x="3179615" y="2944368"/>
            <a:ext cx="1600200" cy="4114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1350" b="1">
                <a:solidFill>
                  <a:srgbClr val="081D31"/>
                </a:solidFill>
                <a:latin typeface="Aptos"/>
              </a:rPr>
              <a:t>BigQuery SQL</a:t>
            </a:r>
            <a:br/>
            <a:r>
              <a:rPr sz="1350" b="1">
                <a:solidFill>
                  <a:srgbClr val="081D31"/>
                </a:solidFill>
                <a:latin typeface="Aptos"/>
              </a:rPr>
              <a:t>Transformation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A4E04B2E-73A0-1F9B-790B-7B0A27F472D9}"/>
              </a:ext>
            </a:extLst>
          </p:cNvPr>
          <p:cNvSpPr/>
          <p:nvPr/>
        </p:nvSpPr>
        <p:spPr>
          <a:xfrm>
            <a:off x="6022564" y="1874519"/>
            <a:ext cx="960120" cy="960120"/>
          </a:xfrm>
          <a:prstGeom prst="ellipse">
            <a:avLst/>
          </a:prstGeom>
          <a:solidFill>
            <a:srgbClr val="E2F7EF"/>
          </a:solidFill>
          <a:ln w="12700">
            <a:solidFill>
              <a:srgbClr val="AAE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10">
            <a:extLst>
              <a:ext uri="{FF2B5EF4-FFF2-40B4-BE49-F238E27FC236}">
                <a16:creationId xmlns:a16="http://schemas.microsoft.com/office/drawing/2014/main" id="{7EF780AB-7C5B-B11C-8310-FBF10BEA18C9}"/>
              </a:ext>
            </a:extLst>
          </p:cNvPr>
          <p:cNvSpPr txBox="1"/>
          <p:nvPr/>
        </p:nvSpPr>
        <p:spPr>
          <a:xfrm>
            <a:off x="6022564" y="2124151"/>
            <a:ext cx="960120" cy="4800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0">
                <a:solidFill>
                  <a:srgbClr val="121E2D"/>
                </a:solidFill>
                <a:latin typeface="Aptos"/>
              </a:rPr>
              <a:t>📊</a:t>
            </a:r>
          </a:p>
        </p:txBody>
      </p:sp>
      <p:sp>
        <p:nvSpPr>
          <p:cNvPr id="55" name="TextBox 11">
            <a:extLst>
              <a:ext uri="{FF2B5EF4-FFF2-40B4-BE49-F238E27FC236}">
                <a16:creationId xmlns:a16="http://schemas.microsoft.com/office/drawing/2014/main" id="{329FAEBF-0D80-AE9C-2187-33DCC4C82EB0}"/>
              </a:ext>
            </a:extLst>
          </p:cNvPr>
          <p:cNvSpPr txBox="1"/>
          <p:nvPr/>
        </p:nvSpPr>
        <p:spPr>
          <a:xfrm>
            <a:off x="5702525" y="2944368"/>
            <a:ext cx="1600200" cy="4114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1350" b="1">
                <a:solidFill>
                  <a:srgbClr val="081D31"/>
                </a:solidFill>
                <a:latin typeface="Aptos"/>
              </a:rPr>
              <a:t>Final Warehouse</a:t>
            </a:r>
            <a:br/>
            <a:r>
              <a:rPr sz="1350" b="1">
                <a:solidFill>
                  <a:srgbClr val="081D31"/>
                </a:solidFill>
                <a:latin typeface="Aptos"/>
              </a:rPr>
              <a:t>Table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60DEC55-51B6-924E-A4BB-A718048E824F}"/>
              </a:ext>
            </a:extLst>
          </p:cNvPr>
          <p:cNvSpPr/>
          <p:nvPr/>
        </p:nvSpPr>
        <p:spPr>
          <a:xfrm>
            <a:off x="9069186" y="1874519"/>
            <a:ext cx="960120" cy="960120"/>
          </a:xfrm>
          <a:prstGeom prst="ellipse">
            <a:avLst/>
          </a:prstGeom>
          <a:solidFill>
            <a:srgbClr val="FFF2E2"/>
          </a:solidFill>
          <a:ln w="12700">
            <a:solidFill>
              <a:srgbClr val="F4D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13">
            <a:extLst>
              <a:ext uri="{FF2B5EF4-FFF2-40B4-BE49-F238E27FC236}">
                <a16:creationId xmlns:a16="http://schemas.microsoft.com/office/drawing/2014/main" id="{EFAC9373-859A-7BDB-056B-0611CC6B159F}"/>
              </a:ext>
            </a:extLst>
          </p:cNvPr>
          <p:cNvSpPr txBox="1"/>
          <p:nvPr/>
        </p:nvSpPr>
        <p:spPr>
          <a:xfrm>
            <a:off x="9069186" y="2124151"/>
            <a:ext cx="960120" cy="4800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2200" b="0">
                <a:solidFill>
                  <a:srgbClr val="121E2D"/>
                </a:solidFill>
                <a:latin typeface="Aptos"/>
              </a:rPr>
              <a:t>👥</a:t>
            </a:r>
          </a:p>
        </p:txBody>
      </p:sp>
      <p:sp>
        <p:nvSpPr>
          <p:cNvPr id="58" name="TextBox 14">
            <a:extLst>
              <a:ext uri="{FF2B5EF4-FFF2-40B4-BE49-F238E27FC236}">
                <a16:creationId xmlns:a16="http://schemas.microsoft.com/office/drawing/2014/main" id="{96826B33-D4D2-D2A1-9CFE-535452B626E7}"/>
              </a:ext>
            </a:extLst>
          </p:cNvPr>
          <p:cNvSpPr txBox="1"/>
          <p:nvPr/>
        </p:nvSpPr>
        <p:spPr>
          <a:xfrm>
            <a:off x="8749146" y="2944368"/>
            <a:ext cx="1600200" cy="41148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1350" b="1">
                <a:solidFill>
                  <a:srgbClr val="081D31"/>
                </a:solidFill>
                <a:latin typeface="Aptos"/>
              </a:rPr>
              <a:t>Analysis Use Case</a:t>
            </a:r>
          </a:p>
        </p:txBody>
      </p:sp>
      <p:sp>
        <p:nvSpPr>
          <p:cNvPr id="64" name="Shape 5">
            <a:extLst>
              <a:ext uri="{FF2B5EF4-FFF2-40B4-BE49-F238E27FC236}">
                <a16:creationId xmlns:a16="http://schemas.microsoft.com/office/drawing/2014/main" id="{A80FF312-6235-CFCB-B09B-B3CDBC2ECF21}"/>
              </a:ext>
            </a:extLst>
          </p:cNvPr>
          <p:cNvSpPr/>
          <p:nvPr/>
        </p:nvSpPr>
        <p:spPr>
          <a:xfrm>
            <a:off x="4663440" y="2359152"/>
            <a:ext cx="1145078" cy="0"/>
          </a:xfrm>
          <a:prstGeom prst="line">
            <a:avLst/>
          </a:prstGeom>
          <a:noFill/>
          <a:ln w="38100">
            <a:solidFill>
              <a:srgbClr val="F3994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CH"/>
          </a:p>
        </p:txBody>
      </p:sp>
      <p:sp>
        <p:nvSpPr>
          <p:cNvPr id="65" name="Shape 5">
            <a:extLst>
              <a:ext uri="{FF2B5EF4-FFF2-40B4-BE49-F238E27FC236}">
                <a16:creationId xmlns:a16="http://schemas.microsoft.com/office/drawing/2014/main" id="{1EA406FC-F392-5EC6-382F-A88429FAD820}"/>
              </a:ext>
            </a:extLst>
          </p:cNvPr>
          <p:cNvSpPr/>
          <p:nvPr/>
        </p:nvSpPr>
        <p:spPr>
          <a:xfrm>
            <a:off x="7128159" y="2359152"/>
            <a:ext cx="1849585" cy="0"/>
          </a:xfrm>
          <a:prstGeom prst="line">
            <a:avLst/>
          </a:prstGeom>
          <a:noFill/>
          <a:ln w="38100">
            <a:solidFill>
              <a:srgbClr val="F3994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CH"/>
          </a:p>
        </p:txBody>
      </p:sp>
      <p:sp>
        <p:nvSpPr>
          <p:cNvPr id="66" name="Shape 5">
            <a:extLst>
              <a:ext uri="{FF2B5EF4-FFF2-40B4-BE49-F238E27FC236}">
                <a16:creationId xmlns:a16="http://schemas.microsoft.com/office/drawing/2014/main" id="{3BE4B222-DA2F-B609-09F6-A9B7A5CBCAE1}"/>
              </a:ext>
            </a:extLst>
          </p:cNvPr>
          <p:cNvSpPr/>
          <p:nvPr/>
        </p:nvSpPr>
        <p:spPr>
          <a:xfrm>
            <a:off x="2259677" y="2376886"/>
            <a:ext cx="1145078" cy="0"/>
          </a:xfrm>
          <a:prstGeom prst="line">
            <a:avLst/>
          </a:prstGeom>
          <a:noFill/>
          <a:ln w="3810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CH"/>
          </a:p>
        </p:txBody>
      </p:sp>
      <p:sp>
        <p:nvSpPr>
          <p:cNvPr id="67" name="Shape 5">
            <a:extLst>
              <a:ext uri="{FF2B5EF4-FFF2-40B4-BE49-F238E27FC236}">
                <a16:creationId xmlns:a16="http://schemas.microsoft.com/office/drawing/2014/main" id="{506C6F31-1FF5-0321-3F85-2295CC06622D}"/>
              </a:ext>
            </a:extLst>
          </p:cNvPr>
          <p:cNvSpPr/>
          <p:nvPr/>
        </p:nvSpPr>
        <p:spPr>
          <a:xfrm>
            <a:off x="644202" y="2376886"/>
            <a:ext cx="405384" cy="0"/>
          </a:xfrm>
          <a:prstGeom prst="line">
            <a:avLst/>
          </a:prstGeom>
          <a:noFill/>
          <a:ln w="3810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de-CH"/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EAA916C6-F279-6E55-2124-8393794D2385}"/>
              </a:ext>
            </a:extLst>
          </p:cNvPr>
          <p:cNvSpPr txBox="1"/>
          <p:nvPr/>
        </p:nvSpPr>
        <p:spPr>
          <a:xfrm>
            <a:off x="6021924" y="3953070"/>
            <a:ext cx="260248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noProof="1"/>
              <a:t>mobility_weather_daily</a:t>
            </a:r>
          </a:p>
          <a:p>
            <a:pPr>
              <a:spcAft>
                <a:spcPts val="600"/>
              </a:spcAft>
            </a:pPr>
            <a:endParaRPr lang="en-US" sz="1600" noProof="1"/>
          </a:p>
          <a:p>
            <a:pPr>
              <a:spcAft>
                <a:spcPts val="600"/>
              </a:spcAft>
            </a:pPr>
            <a:r>
              <a:rPr lang="en-US" sz="1600" dirty="0" err="1"/>
              <a:t>mobility_weather_daily_by_station</a:t>
            </a:r>
            <a:br>
              <a:rPr lang="en-US" sz="1600" noProof="1"/>
            </a:br>
            <a:endParaRPr lang="en-US" sz="1600" noProof="1">
              <a:highlight>
                <a:srgbClr val="FFFF00"/>
              </a:highlight>
            </a:endParaRPr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138B3F97-F9A0-CAD8-5D2C-BCDA8DB030DE}"/>
              </a:ext>
            </a:extLst>
          </p:cNvPr>
          <p:cNvSpPr/>
          <p:nvPr/>
        </p:nvSpPr>
        <p:spPr>
          <a:xfrm>
            <a:off x="3132334" y="3540972"/>
            <a:ext cx="2570112" cy="187960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pPr>
              <a:spcAft>
                <a:spcPts val="600"/>
              </a:spcAft>
            </a:pPr>
            <a:endParaRPr lang="de-CH" sz="1500" dirty="0"/>
          </a:p>
        </p:txBody>
      </p:sp>
      <p:sp>
        <p:nvSpPr>
          <p:cNvPr id="70" name="Shape 26">
            <a:extLst>
              <a:ext uri="{FF2B5EF4-FFF2-40B4-BE49-F238E27FC236}">
                <a16:creationId xmlns:a16="http://schemas.microsoft.com/office/drawing/2014/main" id="{205893BF-B11E-A2F0-EB6E-EB5D6F135CA4}"/>
              </a:ext>
            </a:extLst>
          </p:cNvPr>
          <p:cNvSpPr/>
          <p:nvPr/>
        </p:nvSpPr>
        <p:spPr>
          <a:xfrm>
            <a:off x="3144810" y="3906733"/>
            <a:ext cx="94996" cy="1188210"/>
          </a:xfrm>
          <a:prstGeom prst="rect">
            <a:avLst/>
          </a:prstGeom>
          <a:solidFill>
            <a:srgbClr val="6F56EA"/>
          </a:solidFill>
          <a:ln w="12700">
            <a:solidFill>
              <a:srgbClr val="27AE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1" name="Text 27">
            <a:extLst>
              <a:ext uri="{FF2B5EF4-FFF2-40B4-BE49-F238E27FC236}">
                <a16:creationId xmlns:a16="http://schemas.microsoft.com/office/drawing/2014/main" id="{AA372D0D-31B2-05C1-E0F9-9A841706655E}"/>
              </a:ext>
            </a:extLst>
          </p:cNvPr>
          <p:cNvSpPr/>
          <p:nvPr/>
        </p:nvSpPr>
        <p:spPr>
          <a:xfrm>
            <a:off x="3373410" y="3629514"/>
            <a:ext cx="2187967" cy="243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noProof="1">
                <a:solidFill>
                  <a:srgbClr val="0B1F33"/>
                </a:solidFill>
              </a:rPr>
              <a:t>Transformation Logic</a:t>
            </a:r>
            <a:endParaRPr lang="en-US" sz="1600" noProof="1"/>
          </a:p>
        </p:txBody>
      </p:sp>
      <p:sp>
        <p:nvSpPr>
          <p:cNvPr id="72" name="Text 28">
            <a:extLst>
              <a:ext uri="{FF2B5EF4-FFF2-40B4-BE49-F238E27FC236}">
                <a16:creationId xmlns:a16="http://schemas.microsoft.com/office/drawing/2014/main" id="{FEBFEB8E-E19E-397A-3B3F-A76FA26BD660}"/>
              </a:ext>
            </a:extLst>
          </p:cNvPr>
          <p:cNvSpPr/>
          <p:nvPr/>
        </p:nvSpPr>
        <p:spPr>
          <a:xfrm>
            <a:off x="3364751" y="3925097"/>
            <a:ext cx="2852928" cy="1100681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endParaRPr lang="en-US" sz="1600" dirty="0">
              <a:solidFill>
                <a:srgbClr val="111827"/>
              </a:solidFill>
            </a:endParaRPr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D359F37B-8788-D1B3-2F35-82BB8EBFD71E}"/>
              </a:ext>
            </a:extLst>
          </p:cNvPr>
          <p:cNvSpPr txBox="1"/>
          <p:nvPr/>
        </p:nvSpPr>
        <p:spPr>
          <a:xfrm>
            <a:off x="3315215" y="3912965"/>
            <a:ext cx="224616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noProof="1"/>
              <a:t>Daily aggregation</a:t>
            </a:r>
            <a:r>
              <a:rPr lang="en-US" sz="1600" noProof="1"/>
              <a:t> and join of mobility and weather data.</a:t>
            </a:r>
            <a:br>
              <a:rPr lang="en-US" sz="1600" noProof="1"/>
            </a:br>
            <a:endParaRPr lang="en-US" sz="1600" noProof="1"/>
          </a:p>
          <a:p>
            <a:r>
              <a:rPr lang="en-US" sz="1600" b="1" noProof="1"/>
              <a:t>Partitioned by: </a:t>
            </a:r>
            <a:r>
              <a:rPr lang="en-US" sz="1600" noProof="1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824921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99872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Terraform and Cloud Credentials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19329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/>
              <a:t>Terraform creates the required Google Cloud resources as code.</a:t>
            </a:r>
          </a:p>
        </p:txBody>
      </p:sp>
      <p:sp>
        <p:nvSpPr>
          <p:cNvPr id="4" name="Shape 2"/>
          <p:cNvSpPr/>
          <p:nvPr/>
        </p:nvSpPr>
        <p:spPr>
          <a:xfrm>
            <a:off x="777240" y="2044700"/>
            <a:ext cx="3063240" cy="2946400"/>
          </a:xfrm>
          <a:prstGeom prst="roundRect">
            <a:avLst>
              <a:gd name="adj" fmla="val 5000"/>
            </a:avLst>
          </a:prstGeom>
          <a:solidFill>
            <a:srgbClr val="EA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/>
          <p:nvPr/>
        </p:nvSpPr>
        <p:spPr>
          <a:xfrm>
            <a:off x="914400" y="220929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00000"/>
                </a:solidFill>
              </a:rPr>
              <a:t>🏗️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344168" y="22275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3"/>
                </a:solidFill>
              </a:rPr>
              <a:t>Terraform </a:t>
            </a:r>
            <a:r>
              <a:rPr lang="en-US" sz="2000" b="1" noProof="1">
                <a:solidFill>
                  <a:srgbClr val="0B1F33"/>
                </a:solidFill>
              </a:rPr>
              <a:t>creates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2807208" cy="192278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GCS bucket as raw data lake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 err="1"/>
              <a:t>BigQuery</a:t>
            </a:r>
            <a:r>
              <a:rPr lang="en-US" noProof="0" dirty="0"/>
              <a:t> dataset as data warehouse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 Required IAM permissions</a:t>
            </a:r>
          </a:p>
        </p:txBody>
      </p:sp>
      <p:sp>
        <p:nvSpPr>
          <p:cNvPr id="8" name="Shape 6"/>
          <p:cNvSpPr/>
          <p:nvPr/>
        </p:nvSpPr>
        <p:spPr>
          <a:xfrm>
            <a:off x="4526280" y="2044700"/>
            <a:ext cx="3063240" cy="2946400"/>
          </a:xfrm>
          <a:prstGeom prst="roundRect">
            <a:avLst>
              <a:gd name="adj" fmla="val 5000"/>
            </a:avLst>
          </a:prstGeom>
          <a:solidFill>
            <a:srgbClr val="DFF6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4663440" y="220929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00000"/>
                </a:solidFill>
              </a:rPr>
              <a:t>☁️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093208" y="22275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B1F33"/>
                </a:solidFill>
              </a:rPr>
              <a:t>Project </a:t>
            </a:r>
            <a:r>
              <a:rPr lang="en-US" sz="2000" b="1" dirty="0">
                <a:solidFill>
                  <a:srgbClr val="0B1F33"/>
                </a:solidFill>
              </a:rPr>
              <a:t>resources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63440" y="2547620"/>
            <a:ext cx="2761488" cy="2231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Project: projectmobile-494518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Bucket: project-mobile-zurich-data-lake-494518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11827"/>
                </a:solidFill>
              </a:rPr>
              <a:t>Dataset: zurich_mobility_warehouse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275320" y="2044700"/>
            <a:ext cx="3063240" cy="2946400"/>
          </a:xfrm>
          <a:prstGeom prst="roundRect">
            <a:avLst>
              <a:gd name="adj" fmla="val 5000"/>
            </a:avLst>
          </a:prstGeom>
          <a:solidFill>
            <a:srgbClr val="FFF2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Text 11"/>
          <p:cNvSpPr/>
          <p:nvPr/>
        </p:nvSpPr>
        <p:spPr>
          <a:xfrm>
            <a:off x="8412480" y="2209292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00000"/>
                </a:solidFill>
              </a:rPr>
              <a:t>🔐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842248" y="22275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3"/>
                </a:solidFill>
              </a:rPr>
              <a:t>Credentials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30768" y="2687320"/>
            <a:ext cx="2743200" cy="1935481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r>
              <a:rPr lang="en-US" noProof="1">
                <a:solidFill>
                  <a:srgbClr val="111827"/>
                </a:solidFill>
              </a:rPr>
              <a:t>Service account key is stored locally:</a:t>
            </a:r>
          </a:p>
          <a:p>
            <a:r>
              <a:rPr lang="en-US" noProof="1">
                <a:solidFill>
                  <a:srgbClr val="111827"/>
                </a:solidFill>
              </a:rPr>
              <a:t>terraform/keys/my-creds.json</a:t>
            </a:r>
          </a:p>
          <a:p>
            <a:endParaRPr lang="en-US" noProof="1">
              <a:solidFill>
                <a:srgbClr val="111827"/>
              </a:solidFill>
            </a:endParaRPr>
          </a:p>
          <a:p>
            <a:r>
              <a:rPr lang="en-US" noProof="1"/>
              <a:t>Never upload credentials to GitHub. Credentials are excluded via .gitignore.</a:t>
            </a:r>
          </a:p>
        </p:txBody>
      </p:sp>
      <p:sp>
        <p:nvSpPr>
          <p:cNvPr id="16" name="Shape 14"/>
          <p:cNvSpPr/>
          <p:nvPr/>
        </p:nvSpPr>
        <p:spPr>
          <a:xfrm>
            <a:off x="1247252" y="5525031"/>
            <a:ext cx="9066414" cy="731520"/>
          </a:xfrm>
          <a:prstGeom prst="roundRect">
            <a:avLst>
              <a:gd name="adj" fmla="val 10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1273922" y="5808518"/>
            <a:ext cx="9013075" cy="16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noProof="0" dirty="0">
                <a:solidFill>
                  <a:srgbClr val="FFFFFF"/>
                </a:solidFill>
              </a:rPr>
              <a:t>terraform </a:t>
            </a:r>
            <a:r>
              <a:rPr lang="en-US" b="1" noProof="0" dirty="0" err="1">
                <a:solidFill>
                  <a:srgbClr val="FFFFFF"/>
                </a:solidFill>
              </a:rPr>
              <a:t>init</a:t>
            </a:r>
            <a:r>
              <a:rPr lang="en-US" b="1" noProof="0" dirty="0">
                <a:solidFill>
                  <a:srgbClr val="FFFFFF"/>
                </a:solidFill>
              </a:rPr>
              <a:t> → terraform </a:t>
            </a:r>
            <a:r>
              <a:rPr lang="en-US" b="1" noProof="0" dirty="0" err="1">
                <a:solidFill>
                  <a:srgbClr val="FFFFFF"/>
                </a:solidFill>
              </a:rPr>
              <a:t>fmt</a:t>
            </a:r>
            <a:r>
              <a:rPr lang="en-US" b="1" noProof="0" dirty="0">
                <a:solidFill>
                  <a:srgbClr val="FFFFFF"/>
                </a:solidFill>
              </a:rPr>
              <a:t> → terraform validate → terraform plan → terraform apply</a:t>
            </a:r>
            <a:endParaRPr lang="en-US" noProof="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70855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noProof="1">
                <a:solidFill>
                  <a:srgbClr val="081D31"/>
                </a:solidFill>
                <a:latin typeface="Aptos"/>
              </a:rPr>
              <a:t>7. </a:t>
            </a:r>
            <a:r>
              <a:rPr lang="en-US" sz="3200" b="1" noProof="1">
                <a:solidFill>
                  <a:srgbClr val="081D31"/>
                </a:solidFill>
                <a:latin typeface="Aptos"/>
              </a:rPr>
              <a:t>BigQuery Table and Optimization</a:t>
            </a:r>
          </a:p>
        </p:txBody>
      </p:sp>
      <p:sp>
        <p:nvSpPr>
          <p:cNvPr id="3" name="Text 1"/>
          <p:cNvSpPr/>
          <p:nvPr/>
        </p:nvSpPr>
        <p:spPr>
          <a:xfrm>
            <a:off x="566928" y="1117583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/>
              <a:t>The final table is ready for analytical queries.</a:t>
            </a:r>
          </a:p>
        </p:txBody>
      </p:sp>
      <p:sp>
        <p:nvSpPr>
          <p:cNvPr id="4" name="Shape 2"/>
          <p:cNvSpPr/>
          <p:nvPr/>
        </p:nvSpPr>
        <p:spPr>
          <a:xfrm>
            <a:off x="566928" y="1907776"/>
            <a:ext cx="4187952" cy="4129344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/>
          <p:nvPr/>
        </p:nvSpPr>
        <p:spPr>
          <a:xfrm>
            <a:off x="1234440" y="2215701"/>
            <a:ext cx="3108960" cy="29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F33"/>
                </a:solidFill>
              </a:rPr>
              <a:t>mobility_weather_daily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234440" y="2730736"/>
            <a:ext cx="3108960" cy="210312"/>
          </a:xfrm>
          <a:prstGeom prst="roundRect">
            <a:avLst>
              <a:gd name="adj" fmla="val 13043"/>
            </a:avLst>
          </a:prstGeom>
          <a:solidFill>
            <a:srgbClr val="EAF3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1353312" y="2767312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date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34440" y="3041632"/>
            <a:ext cx="3108960" cy="210312"/>
          </a:xfrm>
          <a:prstGeom prst="roundRect">
            <a:avLst>
              <a:gd name="adj" fmla="val 13043"/>
            </a:avLst>
          </a:prstGeom>
          <a:solidFill>
            <a:srgbClr val="EAF3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1353312" y="3078208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year / month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3352528"/>
            <a:ext cx="3108960" cy="210312"/>
          </a:xfrm>
          <a:prstGeom prst="roundRect">
            <a:avLst>
              <a:gd name="adj" fmla="val 13043"/>
            </a:avLst>
          </a:prstGeom>
          <a:solidFill>
            <a:srgbClr val="EAF3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/>
          <p:nvPr/>
        </p:nvSpPr>
        <p:spPr>
          <a:xfrm>
            <a:off x="1353312" y="3389104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is_weekend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34440" y="3663424"/>
            <a:ext cx="3108960" cy="210312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Text 11"/>
          <p:cNvSpPr/>
          <p:nvPr/>
        </p:nvSpPr>
        <p:spPr>
          <a:xfrm>
            <a:off x="1353312" y="3700000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temperature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34440" y="3974320"/>
            <a:ext cx="3108960" cy="210312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1353312" y="4010896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precipitation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34440" y="4285216"/>
            <a:ext cx="3108960" cy="210312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1353312" y="4321792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wind_speed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34440" y="4596112"/>
            <a:ext cx="3108960" cy="210312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9" name="Text 17"/>
          <p:cNvSpPr/>
          <p:nvPr/>
        </p:nvSpPr>
        <p:spPr>
          <a:xfrm>
            <a:off x="1353312" y="4632688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bicycle_count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34440" y="4907008"/>
            <a:ext cx="3108960" cy="210312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Text 19"/>
          <p:cNvSpPr/>
          <p:nvPr/>
        </p:nvSpPr>
        <p:spPr>
          <a:xfrm>
            <a:off x="1353312" y="4943584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pedestrian_count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532120" y="1987333"/>
            <a:ext cx="2560320" cy="2246104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3" name="Shape 21"/>
          <p:cNvSpPr/>
          <p:nvPr/>
        </p:nvSpPr>
        <p:spPr>
          <a:xfrm>
            <a:off x="5532120" y="1987333"/>
            <a:ext cx="86868" cy="2246104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4" name="Text 22"/>
          <p:cNvSpPr/>
          <p:nvPr/>
        </p:nvSpPr>
        <p:spPr>
          <a:xfrm>
            <a:off x="5760720" y="2151925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noProof="1"/>
              <a:t>Partitioning</a:t>
            </a:r>
            <a:endParaRPr lang="en-US" noProof="1"/>
          </a:p>
        </p:txBody>
      </p:sp>
      <p:sp>
        <p:nvSpPr>
          <p:cNvPr id="25" name="Text 23"/>
          <p:cNvSpPr/>
          <p:nvPr/>
        </p:nvSpPr>
        <p:spPr>
          <a:xfrm>
            <a:off x="5756148" y="2614949"/>
            <a:ext cx="2212848" cy="1453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r>
              <a:rPr lang="en-US" sz="1600" dirty="0">
                <a:solidFill>
                  <a:srgbClr val="111827"/>
                </a:solidFill>
              </a:rPr>
              <a:t>by date</a:t>
            </a:r>
          </a:p>
          <a:p>
            <a:endParaRPr lang="en-US" sz="1600" dirty="0">
              <a:solidFill>
                <a:srgbClr val="111827"/>
              </a:solidFill>
            </a:endParaRPr>
          </a:p>
          <a:p>
            <a:r>
              <a:rPr lang="en-US" sz="1600" dirty="0">
                <a:solidFill>
                  <a:srgbClr val="111827"/>
                </a:solidFill>
              </a:rPr>
              <a:t>Good for time filters and time comparisons.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458200" y="1987333"/>
            <a:ext cx="2560320" cy="2246104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7" name="Shape 25"/>
          <p:cNvSpPr/>
          <p:nvPr/>
        </p:nvSpPr>
        <p:spPr>
          <a:xfrm>
            <a:off x="8458200" y="1987333"/>
            <a:ext cx="91440" cy="224610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8" name="Text 26"/>
          <p:cNvSpPr/>
          <p:nvPr/>
        </p:nvSpPr>
        <p:spPr>
          <a:xfrm>
            <a:off x="8686800" y="2151925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F33"/>
                </a:solidFill>
              </a:rPr>
              <a:t>Clustering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686800" y="2755429"/>
            <a:ext cx="2212848" cy="1258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1600" noProof="0" dirty="0">
                <a:solidFill>
                  <a:srgbClr val="111827"/>
                </a:solidFill>
              </a:rPr>
              <a:t>City-Level:</a:t>
            </a:r>
          </a:p>
          <a:p>
            <a:pPr marL="0" indent="0">
              <a:buNone/>
            </a:pPr>
            <a:r>
              <a:rPr lang="en-US" sz="1600" noProof="0" dirty="0">
                <a:solidFill>
                  <a:srgbClr val="111827"/>
                </a:solidFill>
              </a:rPr>
              <a:t>year, month, </a:t>
            </a:r>
            <a:r>
              <a:rPr lang="en-US" sz="1600" noProof="0" dirty="0" err="1">
                <a:solidFill>
                  <a:srgbClr val="111827"/>
                </a:solidFill>
              </a:rPr>
              <a:t>is_weekend</a:t>
            </a:r>
            <a:endParaRPr lang="en-US" sz="1600" noProof="0" dirty="0">
              <a:solidFill>
                <a:srgbClr val="111827"/>
              </a:solidFill>
            </a:endParaRPr>
          </a:p>
          <a:p>
            <a:pPr marL="0" indent="0">
              <a:buNone/>
            </a:pPr>
            <a:endParaRPr lang="en-US" sz="1600" noProof="0" dirty="0">
              <a:solidFill>
                <a:srgbClr val="111827"/>
              </a:solidFill>
            </a:endParaRPr>
          </a:p>
          <a:p>
            <a:pPr marL="0" indent="0">
              <a:buNone/>
            </a:pPr>
            <a:r>
              <a:rPr lang="en-US" sz="1600" noProof="0" dirty="0">
                <a:solidFill>
                  <a:srgbClr val="111827"/>
                </a:solidFill>
              </a:rPr>
              <a:t>Station-Level:</a:t>
            </a:r>
          </a:p>
          <a:p>
            <a:pPr marL="0" indent="0">
              <a:buNone/>
            </a:pPr>
            <a:r>
              <a:rPr lang="en-US" sz="1600" noProof="0" dirty="0" err="1">
                <a:solidFill>
                  <a:srgbClr val="111827"/>
                </a:solidFill>
              </a:rPr>
              <a:t>Station_ID</a:t>
            </a:r>
            <a:r>
              <a:rPr lang="en-US" sz="1600" noProof="0" dirty="0">
                <a:solidFill>
                  <a:srgbClr val="111827"/>
                </a:solidFill>
              </a:rPr>
              <a:t>, year, month</a:t>
            </a:r>
            <a:endParaRPr lang="en-US" sz="1600" noProof="0" dirty="0"/>
          </a:p>
          <a:p>
            <a:pPr marL="0" indent="0">
              <a:buNone/>
            </a:pPr>
            <a:endParaRPr lang="en-US" sz="1070" dirty="0">
              <a:highlight>
                <a:srgbClr val="FFFF00"/>
              </a:highlight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532120" y="4528359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1" name="Shape 29"/>
          <p:cNvSpPr/>
          <p:nvPr/>
        </p:nvSpPr>
        <p:spPr>
          <a:xfrm>
            <a:off x="5532120" y="4528359"/>
            <a:ext cx="100584" cy="1508760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2" name="Text 30"/>
          <p:cNvSpPr/>
          <p:nvPr/>
        </p:nvSpPr>
        <p:spPr>
          <a:xfrm>
            <a:off x="5760720" y="4692951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noProof="1"/>
              <a:t>Examples of questions</a:t>
            </a:r>
            <a:endParaRPr lang="en-US" noProof="1"/>
          </a:p>
        </p:txBody>
      </p:sp>
      <p:sp>
        <p:nvSpPr>
          <p:cNvPr id="33" name="Text 31"/>
          <p:cNvSpPr/>
          <p:nvPr/>
        </p:nvSpPr>
        <p:spPr>
          <a:xfrm>
            <a:off x="5760720" y="5040423"/>
            <a:ext cx="5138928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600" dirty="0">
                <a:solidFill>
                  <a:srgbClr val="111827"/>
                </a:solidFill>
              </a:rPr>
              <a:t>• How do 2025 and 2026 differ?</a:t>
            </a:r>
          </a:p>
          <a:p>
            <a:r>
              <a:rPr lang="en-US" sz="1600" dirty="0">
                <a:solidFill>
                  <a:srgbClr val="111827"/>
                </a:solidFill>
              </a:rPr>
              <a:t>• What happens on rainy days?</a:t>
            </a:r>
          </a:p>
          <a:p>
            <a:r>
              <a:rPr lang="en-US" sz="1600" dirty="0">
                <a:solidFill>
                  <a:srgbClr val="111827"/>
                </a:solidFill>
              </a:rPr>
              <a:t>• Are weekends different from weekdays?</a:t>
            </a:r>
            <a:endParaRPr lang="en-US" sz="16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rPr sz="650" b="0">
                <a:solidFill>
                  <a:srgbClr val="5F6E87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4347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3000" b="1" dirty="0">
                <a:solidFill>
                  <a:srgbClr val="081D31"/>
                </a:solidFill>
                <a:latin typeface="Aptos"/>
              </a:rPr>
              <a:t>9</a:t>
            </a:r>
            <a:r>
              <a:rPr lang="en-US" sz="3000" b="1" noProof="0" dirty="0">
                <a:solidFill>
                  <a:srgbClr val="081D31"/>
                </a:solidFill>
                <a:latin typeface="Aptos"/>
              </a:rPr>
              <a:t>. </a:t>
            </a:r>
            <a:r>
              <a:rPr lang="en-US" sz="3200" b="1" noProof="0" dirty="0"/>
              <a:t>Verification and Reproducibility</a:t>
            </a:r>
            <a:endParaRPr sz="3200" b="1" dirty="0">
              <a:solidFill>
                <a:srgbClr val="081D31"/>
              </a:solidFill>
              <a:latin typeface="Apto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118485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/>
              <a:t>The project clearly demonstrates how results can be reviewed and re-executed.</a:t>
            </a:r>
          </a:p>
        </p:txBody>
      </p:sp>
      <p:sp>
        <p:nvSpPr>
          <p:cNvPr id="4" name="Shape 2"/>
          <p:cNvSpPr/>
          <p:nvPr/>
        </p:nvSpPr>
        <p:spPr>
          <a:xfrm>
            <a:off x="702308" y="192469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Shape 3"/>
          <p:cNvSpPr/>
          <p:nvPr/>
        </p:nvSpPr>
        <p:spPr>
          <a:xfrm>
            <a:off x="702308" y="1924690"/>
            <a:ext cx="100584" cy="18288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930908" y="208928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F33"/>
                </a:solidFill>
              </a:rPr>
              <a:t>PostgreSQL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30908" y="2436754"/>
            <a:ext cx="2898648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Lokaler Check: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COUNT(*) = 365 rows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für 2025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33060" y="192469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Shape 7"/>
          <p:cNvSpPr/>
          <p:nvPr/>
        </p:nvSpPr>
        <p:spPr>
          <a:xfrm>
            <a:off x="4433060" y="1924690"/>
            <a:ext cx="100584" cy="18288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4661660" y="208928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F33"/>
                </a:solidFill>
              </a:rPr>
              <a:t>Cloud Storage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661660" y="2436754"/>
            <a:ext cx="2898648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r>
              <a:rPr lang="en-US" sz="1600" dirty="0">
                <a:solidFill>
                  <a:srgbClr val="111827"/>
                </a:solidFill>
              </a:rPr>
              <a:t>Check whether all raw files are present in the bucket.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63812" y="192469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Shape 11"/>
          <p:cNvSpPr/>
          <p:nvPr/>
        </p:nvSpPr>
        <p:spPr>
          <a:xfrm>
            <a:off x="8163812" y="1924690"/>
            <a:ext cx="100584" cy="1828800"/>
          </a:xfrm>
          <a:prstGeom prst="rect">
            <a:avLst/>
          </a:prstGeom>
          <a:solidFill>
            <a:srgbClr val="9B51E0"/>
          </a:solidFill>
          <a:ln w="12700">
            <a:solidFill>
              <a:srgbClr val="9B51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/>
          <p:nvPr/>
        </p:nvSpPr>
        <p:spPr>
          <a:xfrm>
            <a:off x="8392412" y="208928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F33"/>
                </a:solidFill>
              </a:rPr>
              <a:t>BigQuery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392412" y="2436754"/>
            <a:ext cx="2898648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Autofit/>
          </a:bodyPr>
          <a:lstStyle/>
          <a:p>
            <a:r>
              <a:rPr lang="en-US" sz="1600" dirty="0">
                <a:solidFill>
                  <a:srgbClr val="111827"/>
                </a:solidFill>
              </a:rPr>
              <a:t>COUNT(*), MIN(date), MAX(date) check and preview the table.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5458968"/>
            <a:ext cx="9235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noProof="1">
                <a:solidFill>
                  <a:srgbClr val="FF0000"/>
                </a:solidFill>
              </a:rPr>
              <a:t>Important: Google Cloud Keys and Terraform State are not committed to GitHub.</a:t>
            </a:r>
            <a:endParaRPr lang="en-US" noProof="1">
              <a:solidFill>
                <a:srgbClr val="FF0000"/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rPr sz="650" b="0">
                <a:solidFill>
                  <a:srgbClr val="5F6E87"/>
                </a:solidFill>
                <a:latin typeface="Aptos"/>
              </a:rPr>
              <a:t>10</a:t>
            </a:r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EBA62EB4-41C1-E2E3-BAB5-3DFE8AFF440D}"/>
              </a:ext>
            </a:extLst>
          </p:cNvPr>
          <p:cNvSpPr/>
          <p:nvPr/>
        </p:nvSpPr>
        <p:spPr>
          <a:xfrm>
            <a:off x="998220" y="4295420"/>
            <a:ext cx="10322052" cy="731520"/>
          </a:xfrm>
          <a:prstGeom prst="roundRect">
            <a:avLst>
              <a:gd name="adj" fmla="val 10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1371600" y="4330752"/>
            <a:ext cx="93268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b="1" noProof="1">
                <a:solidFill>
                  <a:schemeClr val="bg1"/>
                </a:solidFill>
              </a:rPr>
              <a:t>Reproducible: git clone → Store credentials locally → Build Docker image </a:t>
            </a:r>
            <a:br>
              <a:rPr lang="en-US" b="1" noProof="1">
                <a:solidFill>
                  <a:schemeClr val="bg1"/>
                </a:solidFill>
              </a:rPr>
            </a:br>
            <a:r>
              <a:rPr lang="en-US" b="1" noProof="1">
                <a:solidFill>
                  <a:schemeClr val="bg1"/>
                </a:solidFill>
              </a:rPr>
              <a:t>→ docker compose up → Run Airflow DAGs → Check BigQuery</a:t>
            </a:r>
            <a:endParaRPr lang="en-US" noProof="1">
              <a:solidFill>
                <a:schemeClr val="bg1"/>
              </a:solidFill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E6B286D0-8E8A-A954-F465-1D007CB135CC}"/>
              </a:ext>
            </a:extLst>
          </p:cNvPr>
          <p:cNvSpPr txBox="1"/>
          <p:nvPr/>
        </p:nvSpPr>
        <p:spPr>
          <a:xfrm>
            <a:off x="2598420" y="5946912"/>
            <a:ext cx="69951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b="0" i="0" u="none" strike="noStrike" dirty="0">
                <a:solidFill>
                  <a:srgbClr val="000000"/>
                </a:solidFill>
                <a:effectLst/>
                <a:latin typeface="-webkit-standard"/>
                <a:sym typeface="Wingdings" pitchFamily="2" charset="2"/>
              </a:rPr>
              <a:t> </a:t>
            </a:r>
            <a:r>
              <a:rPr lang="en-US" sz="2000" b="0" i="0" u="none" strike="noStrike" noProof="1">
                <a:solidFill>
                  <a:srgbClr val="000000"/>
                </a:solidFill>
                <a:effectLst/>
              </a:rPr>
              <a:t>Future development: comparison with other cities</a:t>
            </a:r>
            <a:endParaRPr lang="de-CH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44251-E2AA-7627-F101-D353FB2AA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B6B258E-3D0C-3EDA-0B97-31E2D67F57AA}"/>
              </a:ext>
            </a:extLst>
          </p:cNvPr>
          <p:cNvSpPr/>
          <p:nvPr/>
        </p:nvSpPr>
        <p:spPr>
          <a:xfrm>
            <a:off x="566927" y="347472"/>
            <a:ext cx="1090879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noProof="0" dirty="0">
                <a:solidFill>
                  <a:srgbClr val="081D31"/>
                </a:solidFill>
                <a:latin typeface="Aptos"/>
              </a:rPr>
              <a:t>10. </a:t>
            </a:r>
            <a:r>
              <a:rPr lang="de-CH" sz="3200" b="1" dirty="0"/>
              <a:t>Dashboard and First Analysis in Looker Studio</a:t>
            </a:r>
            <a:endParaRPr sz="3200" b="1" dirty="0">
              <a:solidFill>
                <a:srgbClr val="081D31"/>
              </a:solidFill>
              <a:latin typeface="Apto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01A536D-066F-AB79-6523-F126CB9B3F3C}"/>
              </a:ext>
            </a:extLst>
          </p:cNvPr>
          <p:cNvSpPr/>
          <p:nvPr/>
        </p:nvSpPr>
        <p:spPr>
          <a:xfrm>
            <a:off x="629273" y="981720"/>
            <a:ext cx="11185190" cy="4960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noProof="1"/>
              <a:t>After loading the final table into BigQuery, we connected the data to Looker Studio/Data Studio and created a simple dashboard to explore mobility patterns.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F124B7FD-BCFF-C60A-39A7-D09B792B402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757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rPr sz="650" b="0">
                <a:solidFill>
                  <a:srgbClr val="5F6E87"/>
                </a:solidFill>
                <a:latin typeface="Aptos"/>
              </a:rPr>
              <a:t>10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D99C144D-4315-1A5E-0D6D-7F58AC582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73" y="1709681"/>
            <a:ext cx="10039562" cy="468072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1" name="Freihand 20">
                <a:extLst>
                  <a:ext uri="{FF2B5EF4-FFF2-40B4-BE49-F238E27FC236}">
                    <a16:creationId xmlns:a16="http://schemas.microsoft.com/office/drawing/2014/main" id="{9BB9E8A5-C0E4-C771-7577-C91C7A7EBD6C}"/>
                  </a:ext>
                </a:extLst>
              </p14:cNvPr>
              <p14:cNvContentPartPr/>
              <p14:nvPr/>
            </p14:nvContentPartPr>
            <p14:xfrm>
              <a:off x="7683284" y="5447209"/>
              <a:ext cx="2385720" cy="51840"/>
            </p14:xfrm>
          </p:contentPart>
        </mc:Choice>
        <mc:Fallback xmlns="">
          <p:pic>
            <p:nvPicPr>
              <p:cNvPr id="21" name="Freihand 20">
                <a:extLst>
                  <a:ext uri="{FF2B5EF4-FFF2-40B4-BE49-F238E27FC236}">
                    <a16:creationId xmlns:a16="http://schemas.microsoft.com/office/drawing/2014/main" id="{9BB9E8A5-C0E4-C771-7577-C91C7A7EBD6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47644" y="5375209"/>
                <a:ext cx="245736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3" name="Freihand 22">
                <a:extLst>
                  <a:ext uri="{FF2B5EF4-FFF2-40B4-BE49-F238E27FC236}">
                    <a16:creationId xmlns:a16="http://schemas.microsoft.com/office/drawing/2014/main" id="{5BC735A8-052F-4B81-B81C-31A1E2772416}"/>
                  </a:ext>
                </a:extLst>
              </p14:cNvPr>
              <p14:cNvContentPartPr/>
              <p14:nvPr/>
            </p14:nvContentPartPr>
            <p14:xfrm>
              <a:off x="7707764" y="5389609"/>
              <a:ext cx="2389320" cy="22320"/>
            </p14:xfrm>
          </p:contentPart>
        </mc:Choice>
        <mc:Fallback xmlns="">
          <p:pic>
            <p:nvPicPr>
              <p:cNvPr id="23" name="Freihand 22">
                <a:extLst>
                  <a:ext uri="{FF2B5EF4-FFF2-40B4-BE49-F238E27FC236}">
                    <a16:creationId xmlns:a16="http://schemas.microsoft.com/office/drawing/2014/main" id="{5BC735A8-052F-4B81-B81C-31A1E277241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671764" y="5317969"/>
                <a:ext cx="246096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9" name="Freihand 28">
                <a:extLst>
                  <a:ext uri="{FF2B5EF4-FFF2-40B4-BE49-F238E27FC236}">
                    <a16:creationId xmlns:a16="http://schemas.microsoft.com/office/drawing/2014/main" id="{463A17CC-1D8D-BA42-1973-5BB9690D6C63}"/>
                  </a:ext>
                </a:extLst>
              </p14:cNvPr>
              <p14:cNvContentPartPr/>
              <p14:nvPr/>
            </p14:nvContentPartPr>
            <p14:xfrm>
              <a:off x="1016444" y="5243449"/>
              <a:ext cx="233280" cy="191160"/>
            </p14:xfrm>
          </p:contentPart>
        </mc:Choice>
        <mc:Fallback xmlns="">
          <p:pic>
            <p:nvPicPr>
              <p:cNvPr id="29" name="Freihand 28">
                <a:extLst>
                  <a:ext uri="{FF2B5EF4-FFF2-40B4-BE49-F238E27FC236}">
                    <a16:creationId xmlns:a16="http://schemas.microsoft.com/office/drawing/2014/main" id="{463A17CC-1D8D-BA42-1973-5BB9690D6C6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07804" y="5234449"/>
                <a:ext cx="25092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0" name="Freihand 29">
                <a:extLst>
                  <a:ext uri="{FF2B5EF4-FFF2-40B4-BE49-F238E27FC236}">
                    <a16:creationId xmlns:a16="http://schemas.microsoft.com/office/drawing/2014/main" id="{5D34AC95-38E0-E287-750F-8E71F512E359}"/>
                  </a:ext>
                </a:extLst>
              </p14:cNvPr>
              <p14:cNvContentPartPr/>
              <p14:nvPr/>
            </p14:nvContentPartPr>
            <p14:xfrm>
              <a:off x="1062884" y="3581329"/>
              <a:ext cx="67320" cy="144720"/>
            </p14:xfrm>
          </p:contentPart>
        </mc:Choice>
        <mc:Fallback xmlns="">
          <p:pic>
            <p:nvPicPr>
              <p:cNvPr id="30" name="Freihand 29">
                <a:extLst>
                  <a:ext uri="{FF2B5EF4-FFF2-40B4-BE49-F238E27FC236}">
                    <a16:creationId xmlns:a16="http://schemas.microsoft.com/office/drawing/2014/main" id="{5D34AC95-38E0-E287-750F-8E71F512E35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54244" y="3572689"/>
                <a:ext cx="8496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1" name="Freihand 30">
                <a:extLst>
                  <a:ext uri="{FF2B5EF4-FFF2-40B4-BE49-F238E27FC236}">
                    <a16:creationId xmlns:a16="http://schemas.microsoft.com/office/drawing/2014/main" id="{6C71084F-1D1C-BB65-A2C6-1418115EB244}"/>
                  </a:ext>
                </a:extLst>
              </p14:cNvPr>
              <p14:cNvContentPartPr/>
              <p14:nvPr/>
            </p14:nvContentPartPr>
            <p14:xfrm>
              <a:off x="921764" y="3494569"/>
              <a:ext cx="351000" cy="335880"/>
            </p14:xfrm>
          </p:contentPart>
        </mc:Choice>
        <mc:Fallback xmlns="">
          <p:pic>
            <p:nvPicPr>
              <p:cNvPr id="31" name="Freihand 30">
                <a:extLst>
                  <a:ext uri="{FF2B5EF4-FFF2-40B4-BE49-F238E27FC236}">
                    <a16:creationId xmlns:a16="http://schemas.microsoft.com/office/drawing/2014/main" id="{6C71084F-1D1C-BB65-A2C6-1418115EB24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13124" y="3485569"/>
                <a:ext cx="368640" cy="353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B7C33CE7-296B-A99A-4943-7A735510A2E0}"/>
              </a:ext>
            </a:extLst>
          </p:cNvPr>
          <p:cNvGrpSpPr/>
          <p:nvPr/>
        </p:nvGrpSpPr>
        <p:grpSpPr>
          <a:xfrm>
            <a:off x="5327804" y="3003169"/>
            <a:ext cx="437400" cy="446760"/>
            <a:chOff x="5327804" y="3003169"/>
            <a:chExt cx="437400" cy="44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2" name="Freihand 31">
                  <a:extLst>
                    <a:ext uri="{FF2B5EF4-FFF2-40B4-BE49-F238E27FC236}">
                      <a16:creationId xmlns:a16="http://schemas.microsoft.com/office/drawing/2014/main" id="{F440726A-D98B-4644-AFA3-5C217284D550}"/>
                    </a:ext>
                  </a:extLst>
                </p14:cNvPr>
                <p14:cNvContentPartPr/>
                <p14:nvPr/>
              </p14:nvContentPartPr>
              <p14:xfrm>
                <a:off x="5488724" y="3133849"/>
                <a:ext cx="181800" cy="205920"/>
              </p14:xfrm>
            </p:contentPart>
          </mc:Choice>
          <mc:Fallback xmlns="">
            <p:pic>
              <p:nvPicPr>
                <p:cNvPr id="32" name="Freihand 31">
                  <a:extLst>
                    <a:ext uri="{FF2B5EF4-FFF2-40B4-BE49-F238E27FC236}">
                      <a16:creationId xmlns:a16="http://schemas.microsoft.com/office/drawing/2014/main" id="{F440726A-D98B-4644-AFA3-5C217284D55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479724" y="3124849"/>
                  <a:ext cx="19944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3" name="Freihand 32">
                  <a:extLst>
                    <a:ext uri="{FF2B5EF4-FFF2-40B4-BE49-F238E27FC236}">
                      <a16:creationId xmlns:a16="http://schemas.microsoft.com/office/drawing/2014/main" id="{07A83680-0055-64A6-61DE-95929020D6AB}"/>
                    </a:ext>
                  </a:extLst>
                </p14:cNvPr>
                <p14:cNvContentPartPr/>
                <p14:nvPr/>
              </p14:nvContentPartPr>
              <p14:xfrm>
                <a:off x="5327804" y="3003169"/>
                <a:ext cx="437400" cy="446760"/>
              </p14:xfrm>
            </p:contentPart>
          </mc:Choice>
          <mc:Fallback xmlns="">
            <p:pic>
              <p:nvPicPr>
                <p:cNvPr id="33" name="Freihand 32">
                  <a:extLst>
                    <a:ext uri="{FF2B5EF4-FFF2-40B4-BE49-F238E27FC236}">
                      <a16:creationId xmlns:a16="http://schemas.microsoft.com/office/drawing/2014/main" id="{07A83680-0055-64A6-61DE-95929020D6A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318804" y="2994529"/>
                  <a:ext cx="455040" cy="46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F54831FC-E559-FF74-9C92-FB26E7EB33CF}"/>
              </a:ext>
            </a:extLst>
          </p:cNvPr>
          <p:cNvGrpSpPr/>
          <p:nvPr/>
        </p:nvGrpSpPr>
        <p:grpSpPr>
          <a:xfrm>
            <a:off x="5306924" y="5822689"/>
            <a:ext cx="510480" cy="402840"/>
            <a:chOff x="5306924" y="5822689"/>
            <a:chExt cx="510480" cy="40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6" name="Freihand 35">
                  <a:extLst>
                    <a:ext uri="{FF2B5EF4-FFF2-40B4-BE49-F238E27FC236}">
                      <a16:creationId xmlns:a16="http://schemas.microsoft.com/office/drawing/2014/main" id="{887BA4F8-88CE-F123-219F-7D78907434AA}"/>
                    </a:ext>
                  </a:extLst>
                </p14:cNvPr>
                <p14:cNvContentPartPr/>
                <p14:nvPr/>
              </p14:nvContentPartPr>
              <p14:xfrm>
                <a:off x="5494844" y="5904049"/>
                <a:ext cx="135360" cy="209160"/>
              </p14:xfrm>
            </p:contentPart>
          </mc:Choice>
          <mc:Fallback xmlns="">
            <p:pic>
              <p:nvPicPr>
                <p:cNvPr id="36" name="Freihand 35">
                  <a:extLst>
                    <a:ext uri="{FF2B5EF4-FFF2-40B4-BE49-F238E27FC236}">
                      <a16:creationId xmlns:a16="http://schemas.microsoft.com/office/drawing/2014/main" id="{887BA4F8-88CE-F123-219F-7D78907434A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486204" y="5895049"/>
                  <a:ext cx="1530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7" name="Freihand 36">
                  <a:extLst>
                    <a:ext uri="{FF2B5EF4-FFF2-40B4-BE49-F238E27FC236}">
                      <a16:creationId xmlns:a16="http://schemas.microsoft.com/office/drawing/2014/main" id="{9AA2B027-8CB3-E043-8D55-08D5C68DE7F9}"/>
                    </a:ext>
                  </a:extLst>
                </p14:cNvPr>
                <p14:cNvContentPartPr/>
                <p14:nvPr/>
              </p14:nvContentPartPr>
              <p14:xfrm>
                <a:off x="5306924" y="5822689"/>
                <a:ext cx="510480" cy="402840"/>
              </p14:xfrm>
            </p:contentPart>
          </mc:Choice>
          <mc:Fallback xmlns="">
            <p:pic>
              <p:nvPicPr>
                <p:cNvPr id="37" name="Freihand 36">
                  <a:extLst>
                    <a:ext uri="{FF2B5EF4-FFF2-40B4-BE49-F238E27FC236}">
                      <a16:creationId xmlns:a16="http://schemas.microsoft.com/office/drawing/2014/main" id="{9AA2B027-8CB3-E043-8D55-08D5C68DE7F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297924" y="5814049"/>
                  <a:ext cx="528120" cy="42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FB86AB62-8E6E-9FC0-B99E-B75506175BA3}"/>
              </a:ext>
            </a:extLst>
          </p:cNvPr>
          <p:cNvGrpSpPr/>
          <p:nvPr/>
        </p:nvGrpSpPr>
        <p:grpSpPr>
          <a:xfrm>
            <a:off x="9967124" y="5361169"/>
            <a:ext cx="258120" cy="304200"/>
            <a:chOff x="9967124" y="5361169"/>
            <a:chExt cx="258120" cy="30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0" name="Freihand 39">
                  <a:extLst>
                    <a:ext uri="{FF2B5EF4-FFF2-40B4-BE49-F238E27FC236}">
                      <a16:creationId xmlns:a16="http://schemas.microsoft.com/office/drawing/2014/main" id="{2B21454D-4DE2-CC09-F909-A3EC0AAD8E64}"/>
                    </a:ext>
                  </a:extLst>
                </p14:cNvPr>
                <p14:cNvContentPartPr/>
                <p14:nvPr/>
              </p14:nvContentPartPr>
              <p14:xfrm>
                <a:off x="10006364" y="5409769"/>
                <a:ext cx="142560" cy="111600"/>
              </p14:xfrm>
            </p:contentPart>
          </mc:Choice>
          <mc:Fallback xmlns="">
            <p:pic>
              <p:nvPicPr>
                <p:cNvPr id="40" name="Freihand 39">
                  <a:extLst>
                    <a:ext uri="{FF2B5EF4-FFF2-40B4-BE49-F238E27FC236}">
                      <a16:creationId xmlns:a16="http://schemas.microsoft.com/office/drawing/2014/main" id="{2B21454D-4DE2-CC09-F909-A3EC0AAD8E6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997364" y="5400769"/>
                  <a:ext cx="1602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1" name="Freihand 40">
                  <a:extLst>
                    <a:ext uri="{FF2B5EF4-FFF2-40B4-BE49-F238E27FC236}">
                      <a16:creationId xmlns:a16="http://schemas.microsoft.com/office/drawing/2014/main" id="{D0DBC2F7-18E0-B944-E6C7-01C0DDAACC82}"/>
                    </a:ext>
                  </a:extLst>
                </p14:cNvPr>
                <p14:cNvContentPartPr/>
                <p14:nvPr/>
              </p14:nvContentPartPr>
              <p14:xfrm>
                <a:off x="10110764" y="5479249"/>
                <a:ext cx="16920" cy="109800"/>
              </p14:xfrm>
            </p:contentPart>
          </mc:Choice>
          <mc:Fallback xmlns="">
            <p:pic>
              <p:nvPicPr>
                <p:cNvPr id="41" name="Freihand 40">
                  <a:extLst>
                    <a:ext uri="{FF2B5EF4-FFF2-40B4-BE49-F238E27FC236}">
                      <a16:creationId xmlns:a16="http://schemas.microsoft.com/office/drawing/2014/main" id="{D0DBC2F7-18E0-B944-E6C7-01C0DDAACC8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101764" y="5470249"/>
                  <a:ext cx="345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5" name="Freihand 44">
                  <a:extLst>
                    <a:ext uri="{FF2B5EF4-FFF2-40B4-BE49-F238E27FC236}">
                      <a16:creationId xmlns:a16="http://schemas.microsoft.com/office/drawing/2014/main" id="{F3786463-C701-5A75-F392-69474F26E714}"/>
                    </a:ext>
                  </a:extLst>
                </p14:cNvPr>
                <p14:cNvContentPartPr/>
                <p14:nvPr/>
              </p14:nvContentPartPr>
              <p14:xfrm>
                <a:off x="9967124" y="5361169"/>
                <a:ext cx="258120" cy="304200"/>
              </p14:xfrm>
            </p:contentPart>
          </mc:Choice>
          <mc:Fallback xmlns="">
            <p:pic>
              <p:nvPicPr>
                <p:cNvPr id="45" name="Freihand 44">
                  <a:extLst>
                    <a:ext uri="{FF2B5EF4-FFF2-40B4-BE49-F238E27FC236}">
                      <a16:creationId xmlns:a16="http://schemas.microsoft.com/office/drawing/2014/main" id="{F3786463-C701-5A75-F392-69474F26E71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958124" y="5352169"/>
                  <a:ext cx="275760" cy="321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14251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98B19-6FAF-550D-B776-20D829590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1736319A-67AE-9A23-A9E5-A4B0E57E5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434" y="1506326"/>
            <a:ext cx="5361710" cy="4505489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78020986-3C8D-A778-4B51-67F3E53DB9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7444" y="1515515"/>
            <a:ext cx="4987637" cy="4496300"/>
          </a:xfrm>
          <a:prstGeom prst="rect">
            <a:avLst/>
          </a:prstGeom>
        </p:spPr>
      </p:pic>
      <p:sp>
        <p:nvSpPr>
          <p:cNvPr id="8" name="Text 0">
            <a:extLst>
              <a:ext uri="{FF2B5EF4-FFF2-40B4-BE49-F238E27FC236}">
                <a16:creationId xmlns:a16="http://schemas.microsoft.com/office/drawing/2014/main" id="{0206BA81-69D4-563F-D645-288724850684}"/>
              </a:ext>
            </a:extLst>
          </p:cNvPr>
          <p:cNvSpPr/>
          <p:nvPr/>
        </p:nvSpPr>
        <p:spPr>
          <a:xfrm>
            <a:off x="718434" y="513727"/>
            <a:ext cx="90550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CH" sz="2400" b="1" dirty="0"/>
              <a:t>Dashboard Analysis: Weather and Weekly Mobility Patterns</a:t>
            </a:r>
            <a:endParaRPr sz="2400" b="1" dirty="0">
              <a:solidFill>
                <a:srgbClr val="081D31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845778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62B7B-081E-19ED-F727-37730E53C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2AFD489D-CD73-B0F3-A82C-BACD9187EE0C}"/>
              </a:ext>
            </a:extLst>
          </p:cNvPr>
          <p:cNvSpPr/>
          <p:nvPr/>
        </p:nvSpPr>
        <p:spPr>
          <a:xfrm>
            <a:off x="718434" y="1033273"/>
            <a:ext cx="2336493" cy="3320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noProof="1"/>
              <a:t>Dashboard Analysis: City vs. Outer District Traffic</a:t>
            </a:r>
            <a:endParaRPr lang="en-US" sz="2400" b="1" noProof="1">
              <a:solidFill>
                <a:srgbClr val="081D31"/>
              </a:solidFill>
              <a:latin typeface="Aptos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1EA873B-BE2A-DDE7-FCF6-BF4BFDA3A1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155" y="173728"/>
            <a:ext cx="8463229" cy="6293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61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1058</Words>
  <Application>Microsoft Macintosh PowerPoint</Application>
  <PresentationFormat>Breitbild</PresentationFormat>
  <Paragraphs>162</Paragraphs>
  <Slides>12</Slides>
  <Notes>12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9" baseType="lpstr">
      <vt:lpstr>-webkit-standard</vt:lpstr>
      <vt:lpstr>Aptos</vt:lpstr>
      <vt:lpstr>Aptos Display</vt:lpstr>
      <vt:lpstr>Arial</vt:lpstr>
      <vt:lpstr>Menlo</vt:lpstr>
      <vt:lpstr>Wingdings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DENG Mobility Project – Präsentation</dc:title>
  <dc:subject>DENG Mobility Project Zurich Pipeline</dc:subject>
  <dc:creator>OpenAI</dc:creator>
  <cp:lastModifiedBy>Susanne Pfenninger</cp:lastModifiedBy>
  <cp:revision>110</cp:revision>
  <dcterms:created xsi:type="dcterms:W3CDTF">2026-05-20T21:09:18Z</dcterms:created>
  <dcterms:modified xsi:type="dcterms:W3CDTF">2026-05-28T11:15:27Z</dcterms:modified>
</cp:coreProperties>
</file>